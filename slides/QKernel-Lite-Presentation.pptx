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1: QKernel-Lite</a:t>
            </a:r>
          </a:p>
          <a:p>
            <a:pPr>
              <a:defRPr i="1" sz="1100"/>
            </a:pPr>
            <a:r>
              <a:t>Presenter / Section: RESEARCH DEFENSE · GROUP 5</a:t>
            </a:r>
          </a:p>
          <a:p>
            <a:pPr>
              <a:defRPr sz="1000"/>
            </a:pPr>
            <a:r>
              <a:t>Topic: IIIT KOTTAYAM · COURSE IEG313: QUANTUM COMPUTING FOR ENGINEERS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RESEARCH DEFENSE · GROUP 5</a:t>
            </a:r>
            <a:br/>
            <a:r>
              <a:t>IIIT KOTTAYAM · COURSE IEG313: QUANTUM COMPUTING FOR ENGINEERS</a:t>
            </a:r>
            <a:br/>
            <a:r>
              <a:t>QKernel-Lite</a:t>
            </a:r>
            <a:br/>
            <a:r>
              <a:t>Quantum vs. Classical Transfer Learning for Pediatric Radiography Under Extreme Low-Data Regimes</a:t>
            </a:r>
            <a:br/>
            <a:r>
              <a:t>Team Name:</a:t>
            </a:r>
            <a:br/>
            <a:r>
              <a:t>DIRAC'S ARMY</a:t>
            </a:r>
            <a:br/>
            <a:r>
              <a:t>▸Daksh Singh (2024BCS0042)</a:t>
            </a:r>
            <a:br/>
            <a:r>
              <a:t>▸Anshuman Biswas (2024BCD0008)</a:t>
            </a:r>
            <a:br/>
            <a:r>
              <a:t>▸Himmat Sirwee (2024BCS0040)</a:t>
            </a:r>
            <a:br/>
            <a:r>
              <a:t>▸Sawan Kumar (2024BCS0164)</a:t>
            </a:r>
            <a:br/>
            <a:r>
              <a:t>▸Aryan Gupta (2024BCS0020)</a:t>
            </a:r>
            <a:br/>
            <a:r>
              <a:t>01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2: The Project in Six Incontrovertible Scientific Facts</a:t>
            </a:r>
          </a:p>
          <a:p>
            <a:pPr>
              <a:defRPr i="1" sz="1100"/>
            </a:pPr>
            <a:r>
              <a:t>Presenter / Section: EXECUTIVE SUMMARY</a:t>
            </a:r>
          </a:p>
          <a:p>
            <a:pPr>
              <a:defRPr sz="1000"/>
            </a:pPr>
            <a:r>
              <a:t>Topic: EMPIRICAL BENCHMARK FINDING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Rigorous Experimental Parity: M1, M2, and M3 share identical train/test splits across 15 seeds (df = 14) with zero test-set leakage.</a:t>
            </a:r>
            <a:br/>
            <a:br/>
            <a:r>
              <a:t>Core Research Conclusion: Pretrained classical transfer learning accounts for 100% of diagnostic capability (+0.36 AUC lift). Quantum encoding introduces phase distortion without benefit.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EXECUTIVE SUMMARY</a:t>
            </a:r>
            <a:br/>
            <a:r>
              <a:t>The Project in Six Incontrovertible Scientific Facts</a:t>
            </a:r>
            <a:br/>
            <a:r>
              <a:t>EMPIRICAL BENCHMARK FINDING</a:t>
            </a:r>
            <a:br/>
            <a:r>
              <a:t>Methodological Framework</a:t>
            </a:r>
            <a:br/>
            <a:br/>
            <a:r>
              <a:t>1. Clinical Testing Ground: We rigorously tested whether Projected Quantum Kernels (PQK) improve classification of pediatric chest X-rays when only </a:t>
            </a:r>
            <a:br/>
            <a:r>
              <a:t>𝑁</a:t>
            </a:r>
            <a:br/>
            <a:r>
              <a:t>∈</a:t>
            </a:r>
            <a:br/>
            <a:r>
              <a:t>{</a:t>
            </a:r>
            <a:br/>
            <a:r>
              <a:t>10</a:t>
            </a:r>
            <a:br/>
            <a:r>
              <a:t>,</a:t>
            </a:r>
            <a:br/>
            <a:r>
              <a:t>20</a:t>
            </a:r>
            <a:br/>
            <a:r>
              <a:t>,</a:t>
            </a:r>
            <a:br/>
            <a:r>
              <a:t>50</a:t>
            </a:r>
            <a:br/>
            <a:r>
              <a:t>,</a:t>
            </a:r>
            <a:br/>
            <a:r>
              <a:t>100</a:t>
            </a:r>
            <a:br/>
            <a:r>
              <a:t>}</a:t>
            </a:r>
            <a:br/>
            <a:r>
              <a:t> labeled radiographs exist.</a:t>
            </a:r>
            <a:br/>
            <a:br/>
            <a:r>
              <a:t>2. The Hybrid Pipeline: Frozen ResNet-18 features (</a:t>
            </a:r>
            <a:br/>
            <a:r>
              <a:t>512</a:t>
            </a:r>
            <a:br/>
            <a:r>
              <a:t>-d) are reduced by train-fold PCA to </a:t>
            </a:r>
            <a:br/>
            <a:r>
              <a:t>8</a:t>
            </a:r>
            <a:br/>
            <a:r>
              <a:t> orthogonal components, angle-encoded into an 8-qubit register, and projected to </a:t>
            </a:r>
            <a:br/>
            <a:r>
              <a:t>24</a:t>
            </a:r>
            <a:br/>
            <a:r>
              <a:t> local Pauli expectations.</a:t>
            </a:r>
            <a:br/>
            <a:br/>
            <a:r>
              <a:t>3. The Scientific Control: An identical RBF kernel on those </a:t>
            </a:r>
            <a:br/>
            <a:r>
              <a:t>24</a:t>
            </a:r>
            <a:br/>
            <a:r>
              <a:t> values feeds the exact same convex dual SVM solver as the classical baseline (M2), strictly isolating the quantum feature map.</a:t>
            </a:r>
            <a:br/>
            <a:br/>
            <a:r>
              <a:t>Rigorous Experimental Parity: M1, M2, and M3 share identical train/test splits across 15 seeds (df = 14) with zero test-set leakage.</a:t>
            </a:r>
            <a:br/>
            <a:r>
              <a:t>The Measured Scientific Reality</a:t>
            </a:r>
            <a:br/>
            <a:br/>
            <a:r>
              <a:t>4. Empirical Performance Deficit: Across every scarcity regime (</a:t>
            </a:r>
            <a:br/>
            <a:r>
              <a:t>𝑁</a:t>
            </a:r>
            <a:br/>
            <a:r>
              <a:t>∈</a:t>
            </a:r>
            <a:br/>
            <a:r>
              <a:t>{</a:t>
            </a:r>
            <a:br/>
            <a:r>
              <a:t>10</a:t>
            </a:r>
            <a:br/>
            <a:r>
              <a:t>,</a:t>
            </a:r>
            <a:br/>
            <a:r>
              <a:t>20</a:t>
            </a:r>
            <a:br/>
            <a:r>
              <a:t>,</a:t>
            </a:r>
            <a:br/>
            <a:r>
              <a:t>50</a:t>
            </a:r>
            <a:br/>
            <a:r>
              <a:t>,</a:t>
            </a:r>
            <a:br/>
            <a:r>
              <a:t>100</a:t>
            </a:r>
            <a:br/>
            <a:r>
              <a:t>}</a:t>
            </a:r>
            <a:br/>
            <a:r>
              <a:t>), the quantum kernel stayed statistically detectably below the classical baseline (</a:t>
            </a:r>
            <a:br/>
            <a:r>
              <a:t>Δ</a:t>
            </a:r>
            <a:br/>
            <a:r>
              <a:t>=</a:t>
            </a:r>
            <a:br/>
            <a:r>
              <a:t>𝑀</a:t>
            </a:r>
            <a:br/>
            <a:r>
              <a:t>3</a:t>
            </a:r>
            <a:br/>
            <a:r>
              <a:t>−</a:t>
            </a:r>
            <a:br/>
            <a:r>
              <a:t>𝑀</a:t>
            </a:r>
            <a:br/>
            <a:r>
              <a:t>2</a:t>
            </a:r>
            <a:br/>
            <a:r>
              <a:t>=</a:t>
            </a:r>
            <a:br/>
            <a:r>
              <a:t>−</a:t>
            </a:r>
            <a:br/>
            <a:r>
              <a:t>0.030</a:t>
            </a:r>
            <a:br/>
            <a:r>
              <a:t> to </a:t>
            </a:r>
            <a:br/>
            <a:r>
              <a:t>−</a:t>
            </a:r>
            <a:br/>
            <a:r>
              <a:t>0.124</a:t>
            </a:r>
            <a:br/>
            <a:r>
              <a:t> AUC, all </a:t>
            </a:r>
            <a:br/>
            <a:r>
              <a:t>𝑝</a:t>
            </a:r>
            <a:br/>
            <a:r>
              <a:t>&lt;</a:t>
            </a:r>
            <a:br/>
            <a:r>
              <a:t>0.001</a:t>
            </a:r>
            <a:br/>
            <a:r>
              <a:t>, Bonferroni surviving).</a:t>
            </a:r>
            <a:br/>
            <a:br/>
            <a:r>
              <a:t>5. Entanglement Degrades Diagnostic Power: Adding circular CNOT entangling gates collapsed expectation variance 34-fold (from </a:t>
            </a:r>
            <a:br/>
            <a:r>
              <a:t>0.290</a:t>
            </a:r>
            <a:br/>
            <a:r>
              <a:t> down to </a:t>
            </a:r>
            <a:br/>
            <a:r>
              <a:t>0.0085</a:t>
            </a:r>
            <a:br/>
            <a:r>
              <a:t>) and caused phase wrapping turnaround where healthy lungs and pneumonia map to identical coordinates.</a:t>
            </a:r>
            <a:br/>
            <a:br/>
            <a:r>
              <a:t>6. The Classical Simulatability Boundary: The only quantum circuit matching the classical control within clinical equivalence (</a:t>
            </a:r>
            <a:br/>
            <a:r>
              <a:t>±</a:t>
            </a:r>
            <a:br/>
            <a:r>
              <a:t>0.02</a:t>
            </a:r>
            <a:br/>
            <a:r>
              <a:t> AUC) is a 1-layer unentangled product state at small scale (</a:t>
            </a:r>
            <a:br/>
            <a:r>
              <a:t>𝑠</a:t>
            </a:r>
            <a:br/>
            <a:r>
              <a:t>≤</a:t>
            </a:r>
            <a:br/>
            <a:r>
              <a:t>0.25</a:t>
            </a:r>
            <a:br/>
            <a:r>
              <a:t>), which Taylor-expands directly to a classical polynomial kernel.</a:t>
            </a:r>
            <a:br/>
            <a:br/>
            <a:r>
              <a:t>Core Research Conclusion: Pretrained classical transfer learning accounts for 100% of diagnostic capability (+0.36 AUC lift). Quantum encoding introduces phase distortion without benefit.</a:t>
            </a:r>
            <a:br/>
            <a:r>
              <a:t>02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3: Module Ownership &amp; Presentation Sequence</a:t>
            </a:r>
          </a:p>
          <a:p>
            <a:pPr>
              <a:defRPr i="1" sz="1100"/>
            </a:pPr>
            <a:r>
              <a:t>Presenter / Section: TEAM ROLES &amp; DIVISION</a:t>
            </a:r>
          </a:p>
          <a:p>
            <a:pPr>
              <a:defRPr sz="1000"/>
            </a:pPr>
            <a:r>
              <a:t>Topic: REHEARSAL &amp; VIVA HAND-OFFS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Collective Cohesion: Every presenter defends the exact mathematical and empirical evidence of their assigned module.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TEAM ROLES &amp; DIVISION</a:t>
            </a:r>
            <a:br/>
            <a:r>
              <a:t>Module Ownership &amp; Presentation Sequence</a:t>
            </a:r>
            <a:br/>
            <a:r>
              <a:t>REHEARSAL &amp; VIVA HAND-OFFS</a:t>
            </a:r>
            <a:br/>
            <a:r>
              <a:t>Presenter Module Ownership</a:t>
            </a:r>
            <a:br/>
            <a:r>
              <a:t>Daksh Singh: Data pipeline, stratified subsampling, ROC-AUC, paired Student's </a:t>
            </a:r>
            <a:br/>
            <a:r>
              <a:t>𝑡</a:t>
            </a:r>
            <a:br/>
            <a:r>
              <a:t>-test, Bonferroni family-wise control (</a:t>
            </a:r>
            <a:br/>
            <a:r>
              <a:t>𝛼</a:t>
            </a:r>
            <a:br/>
            <a:r>
              <a:t>=</a:t>
            </a:r>
            <a:br/>
            <a:r>
              <a:t>0.00417</a:t>
            </a:r>
            <a:br/>
            <a:r>
              <a:t>).</a:t>
            </a:r>
            <a:br/>
            <a:r>
              <a:t>Anshuman Biswas: M1 scratch CNN, parameter under-determination (</a:t>
            </a:r>
            <a:br/>
            <a:r>
              <a:t>𝑃</a:t>
            </a:r>
            <a:br/>
            <a:r>
              <a:t>/</a:t>
            </a:r>
            <a:br/>
            <a:r>
              <a:t>𝑁</a:t>
            </a:r>
            <a:br/>
            <a:r>
              <a:t>&gt;</a:t>
            </a:r>
            <a:br/>
            <a:r>
              <a:t>10</a:t>
            </a:r>
            <a:br/>
            <a:r>
              <a:t>4</a:t>
            </a:r>
            <a:br/>
            <a:r>
              <a:t>), frozen ResNet-18, PCA-8, classical RBF-SVM (M2).</a:t>
            </a:r>
            <a:br/>
            <a:r>
              <a:t>Himmat Sirwee: PennyLane 8Q circuit, angle encoding, 1-layer closed form, small-</a:t>
            </a:r>
            <a:br/>
            <a:r>
              <a:t>𝑠</a:t>
            </a:r>
            <a:br/>
            <a:r>
              <a:t> Taylor duality, phase wrapping turnaround.</a:t>
            </a:r>
            <a:br/>
            <a:r>
              <a:t>Sawan Kumar: Projected kernel theory vs. fidelity barren plateaus, bandwidth </a:t>
            </a:r>
            <a:br/>
            <a:r>
              <a:t>𝑠</a:t>
            </a:r>
            <a:br/>
            <a:r>
              <a:t> vs. </a:t>
            </a:r>
            <a:br/>
            <a:r>
              <a:t>𝛾</a:t>
            </a:r>
            <a:br/>
            <a:r>
              <a:t>, diagnostics, refuted ZZ correlator test.</a:t>
            </a:r>
            <a:br/>
            <a:r>
              <a:t>Aryan Gupta: 960-run accounting, tuning budget asymmetry, Streamlit prototype platform, bounded conclusions.</a:t>
            </a:r>
            <a:br/>
            <a:r>
              <a:t>Collective Cohesion: Every presenter defends the exact mathematical and empirical evidence of their assigned module.</a:t>
            </a:r>
            <a:br/>
            <a:r>
              <a:t>Figure: End-to-End Hybrid Quantum-Classical Tri-Model Pipeline Architecture</a:t>
            </a:r>
            <a:br/>
            <a:r>
              <a:t>03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4: Pediatric Radiography &amp; Extreme Label Scarcity</a:t>
            </a:r>
          </a:p>
          <a:p>
            <a:pPr>
              <a:defRPr i="1" sz="1100"/>
            </a:pPr>
            <a:r>
              <a:t>Presenter / Section: DAKSH SINGH · DATA &amp; SCARCITY</a:t>
            </a:r>
          </a:p>
          <a:p>
            <a:pPr>
              <a:defRPr sz="1000"/>
            </a:pPr>
            <a:r>
              <a:t>Topic: DATASET &amp; SAMPLING METHODOLOGY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Why ROC-AUC over Accuracy? Training is balanced (50%), but test is 62.5% pneumonia. ROC-AUC evaluates true ranking invariant to threshold or class imbalance.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DAKSH SINGH · DATA &amp; SCARCITY</a:t>
            </a:r>
            <a:br/>
            <a:r>
              <a:t>Pediatric Radiography &amp; Extreme Label Scarcity</a:t>
            </a:r>
            <a:br/>
            <a:r>
              <a:t>DATASET &amp; SAMPLING METHODOLOGY</a:t>
            </a:r>
            <a:br/>
            <a:r>
              <a:t>PneumoniaMNIST Experimental Protocol</a:t>
            </a:r>
            <a:br/>
            <a:br/>
            <a:r>
              <a:t>Clinical Origin: Pediatric chest radiographs from Kermany et al. (Cell 2018), standardized as </a:t>
            </a:r>
            <a:br/>
            <a:r>
              <a:t>28</a:t>
            </a:r>
            <a:br/>
            <a:r>
              <a:t>×</a:t>
            </a:r>
            <a:br/>
            <a:r>
              <a:t>28</a:t>
            </a:r>
            <a:br/>
            <a:r>
              <a:t> grayscale scans. Binary diagnosis: Normal vs. Pneumonia.</a:t>
            </a:r>
            <a:br/>
            <a:br/>
            <a:r>
              <a:t>Uncompromised Evaluation Test Set: </a:t>
            </a:r>
            <a:br/>
            <a:r>
              <a:t>624</a:t>
            </a:r>
            <a:br/>
            <a:r>
              <a:t> test images (</a:t>
            </a:r>
            <a:br/>
            <a:r>
              <a:t>234</a:t>
            </a:r>
            <a:br/>
            <a:r>
              <a:t> normal, </a:t>
            </a:r>
            <a:br/>
            <a:r>
              <a:t>390</a:t>
            </a:r>
            <a:br/>
            <a:r>
              <a:t> pneumonia). Touched exactly once after 5-fold cross-validation locked all hyperparameters.</a:t>
            </a:r>
            <a:br/>
            <a:br/>
            <a:r>
              <a:t>Simulated Scarcity Regimes:</a:t>
            </a:r>
            <a:br/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 images (</a:t>
            </a:r>
            <a:br/>
            <a:r>
              <a:t>5</a:t>
            </a:r>
            <a:br/>
            <a:r>
              <a:t> normal, </a:t>
            </a:r>
            <a:br/>
            <a:r>
              <a:t>5</a:t>
            </a:r>
            <a:br/>
            <a:r>
              <a:t> pneumonia)</a:t>
            </a:r>
            <a:br/>
            <a:r>
              <a:t>𝑁</a:t>
            </a:r>
            <a:br/>
            <a:r>
              <a:t>=</a:t>
            </a:r>
            <a:br/>
            <a:r>
              <a:t>20</a:t>
            </a:r>
            <a:br/>
            <a:r>
              <a:t> images (</a:t>
            </a:r>
            <a:br/>
            <a:r>
              <a:t>10</a:t>
            </a:r>
            <a:br/>
            <a:r>
              <a:t> normal, </a:t>
            </a:r>
            <a:br/>
            <a:r>
              <a:t>10</a:t>
            </a:r>
            <a:br/>
            <a:r>
              <a:t> pneumonia)</a:t>
            </a:r>
            <a:br/>
            <a:r>
              <a:t>𝑁</a:t>
            </a:r>
            <a:br/>
            <a:r>
              <a:t>=</a:t>
            </a:r>
            <a:br/>
            <a:r>
              <a:t>50</a:t>
            </a:r>
            <a:br/>
            <a:r>
              <a:t> images (</a:t>
            </a:r>
            <a:br/>
            <a:r>
              <a:t>25</a:t>
            </a:r>
            <a:br/>
            <a:r>
              <a:t> normal, </a:t>
            </a:r>
            <a:br/>
            <a:r>
              <a:t>25</a:t>
            </a:r>
            <a:br/>
            <a:r>
              <a:t> pneumonia)</a:t>
            </a:r>
            <a:br/>
            <a:r>
              <a:t>𝑁</a:t>
            </a:r>
            <a:br/>
            <a:r>
              <a:t>=</a:t>
            </a:r>
            <a:br/>
            <a:r>
              <a:t>100</a:t>
            </a:r>
            <a:br/>
            <a:r>
              <a:t> images (</a:t>
            </a:r>
            <a:br/>
            <a:r>
              <a:t>50</a:t>
            </a:r>
            <a:br/>
            <a:r>
              <a:t> normal, </a:t>
            </a:r>
            <a:br/>
            <a:r>
              <a:t>50</a:t>
            </a:r>
            <a:br/>
            <a:r>
              <a:t> pneumonia)</a:t>
            </a:r>
            <a:br/>
            <a:r>
              <a:t>Why ROC-AUC over Accuracy? Training is balanced (50%), but test is 62.5% pneumonia. ROC-AUC evaluates true ranking invariant to threshold or class imbalance.</a:t>
            </a:r>
            <a:br/>
            <a:r>
              <a:t>PneumoniaMNIST Sample Grid (Top: Normal clear parenchyma; Bottom: Pneumonia opacities)</a:t>
            </a:r>
            <a:br/>
            <a:r>
              <a:t>04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5: Paired Student's t-Test &amp; Bonferroni Family-Wise Control</a:t>
            </a:r>
          </a:p>
          <a:p>
            <a:pPr>
              <a:defRPr i="1" sz="1100"/>
            </a:pPr>
            <a:r>
              <a:t>Presenter / Section: DAKSH SINGH · EVALUATION &amp; STATISTICS</a:t>
            </a:r>
          </a:p>
          <a:p>
            <a:pPr>
              <a:defRPr sz="1000"/>
            </a:pPr>
            <a:r>
              <a:t>Topic: HYPOTHESIS TESTING &amp; EQUIVALENCE BOUNDS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Result: All 4 sample sizes (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,</a:t>
            </a:r>
            <a:br/>
            <a:r>
              <a:t>20</a:t>
            </a:r>
            <a:br/>
            <a:r>
              <a:t>,</a:t>
            </a:r>
            <a:br/>
            <a:r>
              <a:t>50</a:t>
            </a:r>
            <a:br/>
            <a:r>
              <a:t>,</a:t>
            </a:r>
            <a:br/>
            <a:r>
              <a:t>100</a:t>
            </a:r>
            <a:br/>
            <a:r>
              <a:t>) show </a:t>
            </a:r>
            <a:br/>
            <a:r>
              <a:t>𝑀</a:t>
            </a:r>
            <a:br/>
            <a:r>
              <a:t>3</a:t>
            </a:r>
            <a:br/>
            <a:r>
              <a:t>−</a:t>
            </a:r>
            <a:br/>
            <a:r>
              <a:t>𝑀</a:t>
            </a:r>
            <a:br/>
            <a:r>
              <a:t>2</a:t>
            </a:r>
            <a:br/>
            <a:r>
              <a:t>&lt;</a:t>
            </a:r>
            <a:br/>
            <a:r>
              <a:t>0</a:t>
            </a:r>
            <a:br/>
            <a:r>
              <a:t> with </a:t>
            </a:r>
            <a:br/>
            <a:r>
              <a:t>𝑝</a:t>
            </a:r>
            <a:br/>
            <a:r>
              <a:t>&lt;</a:t>
            </a:r>
            <a:br/>
            <a:r>
              <a:t>0.001</a:t>
            </a:r>
            <a:br/>
            <a:r>
              <a:t>, easily surviving the strict Bonferroni threshold.</a:t>
            </a:r>
            <a:br/>
            <a:br/>
            <a:r>
              <a:t>Conclusion: Entanglement does not produce equivalence or advantage; only classically simulable product states come within the bound.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DAKSH SINGH · EVALUATION &amp; STATISTICS</a:t>
            </a:r>
            <a:br/>
            <a:r>
              <a:t>Paired Student's t-Test &amp; Bonferroni Family-Wise Control</a:t>
            </a:r>
            <a:br/>
            <a:r>
              <a:t>HYPOTHESIS TESTING &amp; EQUIVALENCE BOUNDS</a:t>
            </a:r>
            <a:br/>
            <a:r>
              <a:t>Paired Design (15 Seeds, df = 14)</a:t>
            </a:r>
            <a:br/>
            <a:br/>
            <a:r>
              <a:t>Why Paired? Testing M1, M2, and M3 on identical patient subsets across seeds </a:t>
            </a:r>
            <a:br/>
            <a:r>
              <a:t>0</a:t>
            </a:r>
            <a:br/>
            <a:r>
              <a:t>…</a:t>
            </a:r>
            <a:br/>
            <a:r>
              <a:t>14</a:t>
            </a:r>
            <a:br/>
            <a:r>
              <a:t> cancels between-subset variance, isolating true model differences.</a:t>
            </a:r>
            <a:br/>
            <a:br/>
            <a:r>
              <a:t>Why Student's </a:t>
            </a:r>
            <a:br/>
            <a:r>
              <a:t>𝑡</a:t>
            </a:r>
            <a:br/>
            <a:r>
              <a:t> over </a:t>
            </a:r>
            <a:br/>
            <a:r>
              <a:t>𝑧</a:t>
            </a:r>
            <a:br/>
            <a:r>
              <a:t>? With </a:t>
            </a:r>
            <a:br/>
            <a:r>
              <a:t>𝑛</a:t>
            </a:r>
            <a:br/>
            <a:r>
              <a:t>=</a:t>
            </a:r>
            <a:br/>
            <a:r>
              <a:t>15</a:t>
            </a:r>
            <a:br/>
            <a:r>
              <a:t>, population variance is unknown. Sample standard error requires Student's </a:t>
            </a:r>
            <a:br/>
            <a:r>
              <a:t>𝑡</a:t>
            </a:r>
            <a:br/>
            <a:r>
              <a:t> distribution with </a:t>
            </a:r>
            <a:br/>
            <a:r>
              <a:t>df</a:t>
            </a:r>
            <a:br/>
            <a:r>
              <a:t>=</a:t>
            </a:r>
            <a:br/>
            <a:r>
              <a:t>14</a:t>
            </a:r>
            <a:br/>
            <a:r>
              <a:t> (</a:t>
            </a:r>
            <a:br/>
            <a:r>
              <a:t>𝑡</a:t>
            </a:r>
            <a:br/>
            <a:r>
              <a:t>0.025</a:t>
            </a:r>
            <a:br/>
            <a:r>
              <a:t>,</a:t>
            </a:r>
            <a:br/>
            <a:r>
              <a:t>14</a:t>
            </a:r>
            <a:br/>
            <a:r>
              <a:t>=</a:t>
            </a:r>
            <a:br/>
            <a:r>
              <a:t>2.145</a:t>
            </a:r>
            <a:br/>
            <a:r>
              <a:t>):</a:t>
            </a:r>
            <a:br/>
            <a:br/>
            <a:r>
              <a:t>CI</a:t>
            </a:r>
            <a:br/>
            <a:r>
              <a:t>95</a:t>
            </a:r>
            <a:br/>
            <a:r>
              <a:t>%</a:t>
            </a:r>
            <a:br/>
            <a:r>
              <a:t>=</a:t>
            </a:r>
            <a:br/>
            <a:r>
              <a:t>Δ</a:t>
            </a:r>
            <a:br/>
            <a:r>
              <a:t>¯</a:t>
            </a:r>
            <a:br/>
            <a:r>
              <a:t>±</a:t>
            </a:r>
            <a:br/>
            <a:r>
              <a:t>𝑡</a:t>
            </a:r>
            <a:br/>
            <a:r>
              <a:t>0.025</a:t>
            </a:r>
            <a:br/>
            <a:r>
              <a:t>,</a:t>
            </a:r>
            <a:br/>
            <a:r>
              <a:t>14</a:t>
            </a:r>
            <a:br/>
            <a:r>
              <a:t>⋅</a:t>
            </a:r>
            <a:br/>
            <a:r>
              <a:t>𝑠</a:t>
            </a:r>
            <a:br/>
            <a:r>
              <a:t>Δ</a:t>
            </a:r>
            <a:br/>
            <a:r>
              <a:t>15</a:t>
            </a:r>
            <a:br/>
            <a:br/>
            <a:r>
              <a:t>Bonferroni Multiplicity Correction: Across </a:t>
            </a:r>
            <a:br/>
            <a:r>
              <a:t>12</a:t>
            </a:r>
            <a:br/>
            <a:r>
              <a:t> primary pairwise hypothesis tests, family-wise false-positive control requires:</a:t>
            </a:r>
            <a:br/>
            <a:br/>
            <a:r>
              <a:t>𝛼</a:t>
            </a:r>
            <a:br/>
            <a:r>
              <a:t>bonf</a:t>
            </a:r>
            <a:br/>
            <a:r>
              <a:t>=</a:t>
            </a:r>
            <a:br/>
            <a:r>
              <a:t>0.05</a:t>
            </a:r>
            <a:br/>
            <a:r>
              <a:t>12</a:t>
            </a:r>
            <a:br/>
            <a:r>
              <a:t>=</a:t>
            </a:r>
            <a:br/>
            <a:r>
              <a:t>0.00417</a:t>
            </a:r>
            <a:br/>
            <a:r>
              <a:t>Result: All 4 sample sizes (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,</a:t>
            </a:r>
            <a:br/>
            <a:r>
              <a:t>20</a:t>
            </a:r>
            <a:br/>
            <a:r>
              <a:t>,</a:t>
            </a:r>
            <a:br/>
            <a:r>
              <a:t>50</a:t>
            </a:r>
            <a:br/>
            <a:r>
              <a:t>,</a:t>
            </a:r>
            <a:br/>
            <a:r>
              <a:t>100</a:t>
            </a:r>
            <a:br/>
            <a:r>
              <a:t>) show </a:t>
            </a:r>
            <a:br/>
            <a:r>
              <a:t>𝑀</a:t>
            </a:r>
            <a:br/>
            <a:r>
              <a:t>3</a:t>
            </a:r>
            <a:br/>
            <a:r>
              <a:t>−</a:t>
            </a:r>
            <a:br/>
            <a:r>
              <a:t>𝑀</a:t>
            </a:r>
            <a:br/>
            <a:r>
              <a:t>2</a:t>
            </a:r>
            <a:br/>
            <a:r>
              <a:t>&lt;</a:t>
            </a:r>
            <a:br/>
            <a:r>
              <a:t>0</a:t>
            </a:r>
            <a:br/>
            <a:r>
              <a:t> with </a:t>
            </a:r>
            <a:br/>
            <a:r>
              <a:t>𝑝</a:t>
            </a:r>
            <a:br/>
            <a:r>
              <a:t>&lt;</a:t>
            </a:r>
            <a:br/>
            <a:r>
              <a:t>0.001</a:t>
            </a:r>
            <a:br/>
            <a:r>
              <a:t>, easily surviving the strict Bonferroni threshold.</a:t>
            </a:r>
            <a:br/>
            <a:r>
              <a:t>Equivalence Testing Bound (</a:t>
            </a:r>
            <a:br/>
            <a:r>
              <a:t>±</a:t>
            </a:r>
            <a:br/>
            <a:r>
              <a:t>0.02</a:t>
            </a:r>
            <a:br/>
            <a:r>
              <a:t> AUC)</a:t>
            </a:r>
            <a:br/>
            <a:br/>
            <a:r>
              <a:t>Absence of Evidence </a:t>
            </a:r>
            <a:br/>
            <a:r>
              <a:t>≠</a:t>
            </a:r>
            <a:br/>
            <a:r>
              <a:t> Evidence of Absence: A high </a:t>
            </a:r>
            <a:br/>
            <a:r>
              <a:t>𝑝</a:t>
            </a:r>
            <a:br/>
            <a:r>
              <a:t>-value does not prove two models are equivalent. We formalize equivalence using a strict clinical interval:</a:t>
            </a:r>
            <a:br/>
            <a:br/>
            <a:r>
              <a:t>Equivalence Gate: </a:t>
            </a:r>
            <a:br/>
            <a:r>
              <a:t>CI</a:t>
            </a:r>
            <a:br/>
            <a:r>
              <a:t>95</a:t>
            </a:r>
            <a:br/>
            <a:r>
              <a:t>%</a:t>
            </a:r>
            <a:br/>
            <a:r>
              <a:t>(</a:t>
            </a:r>
            <a:br/>
            <a:r>
              <a:t>𝑀</a:t>
            </a:r>
            <a:br/>
            <a:r>
              <a:t>test</a:t>
            </a:r>
            <a:br/>
            <a:r>
              <a:t>−</a:t>
            </a:r>
            <a:br/>
            <a:r>
              <a:t>𝑀</a:t>
            </a:r>
            <a:br/>
            <a:r>
              <a:t>ref</a:t>
            </a:r>
            <a:br/>
            <a:r>
              <a:t>)</a:t>
            </a:r>
            <a:br/>
            <a:r>
              <a:t>⊆</a:t>
            </a:r>
            <a:br/>
            <a:r>
              <a:t>[</a:t>
            </a:r>
            <a:br/>
            <a:r>
              <a:t>−</a:t>
            </a:r>
            <a:br/>
            <a:r>
              <a:t>0.02</a:t>
            </a:r>
            <a:br/>
            <a:r>
              <a:t>,</a:t>
            </a:r>
            <a:br/>
            <a:r>
              <a:t>+</a:t>
            </a:r>
            <a:br/>
            <a:r>
              <a:t>0.02</a:t>
            </a:r>
            <a:br/>
            <a:r>
              <a:t>]</a:t>
            </a:r>
            <a:br/>
            <a:br/>
            <a:r>
              <a:t>Empirical Gate Verification:</a:t>
            </a:r>
            <a:br/>
            <a:br/>
            <a:r>
              <a:t>1-Layer Unentangled (s=0.25): Passes the equivalence gate at </a:t>
            </a:r>
            <a:br/>
            <a:r>
              <a:t>𝑁</a:t>
            </a:r>
            <a:br/>
            <a:r>
              <a:t>=</a:t>
            </a:r>
            <a:br/>
            <a:r>
              <a:t>20</a:t>
            </a:r>
            <a:br/>
            <a:r>
              <a:t>,</a:t>
            </a:r>
            <a:br/>
            <a:r>
              <a:t>50</a:t>
            </a:r>
            <a:br/>
            <a:r>
              <a:t>,</a:t>
            </a:r>
            <a:br/>
            <a:r>
              <a:t>100</a:t>
            </a:r>
            <a:br/>
            <a:r>
              <a:t> (CI fully contained within </a:t>
            </a:r>
            <a:br/>
            <a:r>
              <a:t>[</a:t>
            </a:r>
            <a:br/>
            <a:r>
              <a:t>−</a:t>
            </a:r>
            <a:br/>
            <a:r>
              <a:t>0.02</a:t>
            </a:r>
            <a:br/>
            <a:r>
              <a:t>,</a:t>
            </a:r>
            <a:br/>
            <a:r>
              <a:t>+</a:t>
            </a:r>
            <a:br/>
            <a:r>
              <a:t>0.02</a:t>
            </a:r>
            <a:br/>
            <a:r>
              <a:t>]</a:t>
            </a:r>
            <a:br/>
            <a:r>
              <a:t>).</a:t>
            </a:r>
            <a:br/>
            <a:r>
              <a:t>2-Layer Entangled (s=1.00): Fails catastrophic deficit at all </a:t>
            </a:r>
            <a:br/>
            <a:r>
              <a:t>𝑁</a:t>
            </a:r>
            <a:br/>
            <a:r>
              <a:t> (CI lower bound down to </a:t>
            </a:r>
            <a:br/>
            <a:r>
              <a:t>−</a:t>
            </a:r>
            <a:br/>
            <a:r>
              <a:t>0.18</a:t>
            </a:r>
            <a:br/>
            <a:r>
              <a:t>).</a:t>
            </a:r>
            <a:br/>
            <a:r>
              <a:t>Conclusion: Entanglement does not produce equivalence or advantage; only classically simulable product states come within the bound.</a:t>
            </a:r>
            <a:br/>
            <a:r>
              <a:t>05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6: M1 Scratch CNN &amp; Frozen ResNet-18 Transfer Learning</a:t>
            </a:r>
          </a:p>
          <a:p>
            <a:pPr>
              <a:defRPr i="1" sz="1100"/>
            </a:pPr>
            <a:r>
              <a:t>Presenter / Section: ANSHUMAN BISWAS · CLASSICAL PIPELINE</a:t>
            </a:r>
          </a:p>
          <a:p>
            <a:pPr>
              <a:defRPr sz="1000"/>
            </a:pPr>
            <a:r>
              <a:t>Topic: FEATURE EXTRACTION &amp; OVERFITTING MECHANICS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Honest Reporting: We report what was measured: M1 does surprisingly well, so we drop claims that 'scratch CNNs completely collapse to 0.50'.</a:t>
            </a:r>
            <a:br/>
            <a:br/>
            <a:r>
              <a:t>The Transfer Signal: General vision features (edges, textures, spatial gradients) transfer seamlessly to chest radiographs without medical retraining.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ANSHUMAN BISWAS · CLASSICAL PIPELINE</a:t>
            </a:r>
            <a:br/>
            <a:r>
              <a:t>M1 Scratch CNN &amp; Frozen ResNet-18 Transfer Learning</a:t>
            </a:r>
            <a:br/>
            <a:r>
              <a:t>FEATURE EXTRACTION &amp; OVERFITTING MECHANICS</a:t>
            </a:r>
            <a:br/>
            <a:r>
              <a:t>M1: Scratch CNN (105,826 Weights)</a:t>
            </a:r>
            <a:br/>
            <a:br/>
            <a:r>
              <a:t>Architecture: 2 Conv layers (16 &amp; 32 filters, 3×3) + ReLU + MaxPool + Linear(1568, 64) + Linear(64, 1).</a:t>
            </a:r>
            <a:br/>
            <a:br/>
            <a:r>
              <a:t>Severe Parameter Under-Determination: Training 105k weights on 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 samples means ratio </a:t>
            </a:r>
            <a:br/>
            <a:r>
              <a:t>𝑃</a:t>
            </a:r>
            <a:br/>
            <a:r>
              <a:t>/</a:t>
            </a:r>
            <a:br/>
            <a:r>
              <a:t>𝑁</a:t>
            </a:r>
            <a:br/>
            <a:r>
              <a:t>&gt;</a:t>
            </a:r>
            <a:br/>
            <a:r>
              <a:t>10</a:t>
            </a:r>
            <a:br/>
            <a:r>
              <a:t>,</a:t>
            </a:r>
            <a:br/>
            <a:r>
              <a:t>000</a:t>
            </a:r>
            <a:br/>
            <a:r>
              <a:t>. The network easily overfits training labels.</a:t>
            </a:r>
            <a:br/>
            <a:br/>
            <a:r>
              <a:t>Why Did M1 Not Collapse to Chance? M1 achieves </a:t>
            </a:r>
            <a:br/>
            <a:r>
              <a:t>0.847</a:t>
            </a:r>
            <a:br/>
            <a:r>
              <a:t> AUC at 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 because PneumoniaMNIST features large, distinct global lung consolidations that simple spatial filters detect.</a:t>
            </a:r>
            <a:br/>
            <a:br/>
            <a:r>
              <a:t>Honest Reporting: We report what was measured: M1 does surprisingly well, so we drop claims that 'scratch CNNs completely collapse to 0.50'.</a:t>
            </a:r>
            <a:br/>
            <a:r>
              <a:t>Frozen ResNet-18 Transfer Learning</a:t>
            </a:r>
            <a:br/>
            <a:br/>
            <a:r>
              <a:t>Why Freeze 11.7M Parameters? Fine-tuning 11 million weights on 10 images guarantees extreme memorization. Freezing ensures zero gradient updates from the small dataset.</a:t>
            </a:r>
            <a:br/>
            <a:br/>
            <a:r>
              <a:t>Nonlinear Feature Pipeline:</a:t>
            </a:r>
            <a:br/>
            <a:br/>
            <a:r>
              <a:t>Grayscale repeated across 3 channels + ImageNet normalization.</a:t>
            </a:r>
            <a:br/>
            <a:r>
              <a:t>Forward pass in eval() mode (fixed population BatchNorm statistics).</a:t>
            </a:r>
            <a:br/>
            <a:r>
              <a:t>Global Average Pooling extracts a rich 512-dimensional latent feature vector per chest X-ray.</a:t>
            </a:r>
            <a:br/>
            <a:r>
              <a:t>The Transfer Signal: General vision features (edges, textures, spatial gradients) transfer seamlessly to chest radiographs without medical retraining.</a:t>
            </a:r>
            <a:br/>
            <a:r>
              <a:t>06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7: PCA Dimensionality Reduction &amp; Classical Control (M2)</a:t>
            </a:r>
          </a:p>
          <a:p>
            <a:pPr>
              <a:defRPr i="1" sz="1100"/>
            </a:pPr>
            <a:r>
              <a:t>Presenter / Section: ANSHUMAN BISWAS · CLASSICAL BASELINE (M2)</a:t>
            </a:r>
          </a:p>
          <a:p>
            <a:pPr>
              <a:defRPr sz="1000"/>
            </a:pPr>
            <a:r>
              <a:t>Topic: COMPRESSION TRADE-OFFS &amp; DUAL CONVEX OPTIMIZATION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Feature Integrity: Scaling test samples using training fold </a:t>
            </a:r>
            <a:br/>
            <a:r>
              <a:t>min</a:t>
            </a:r>
            <a:br/>
            <a:r>
              <a:t> and </a:t>
            </a:r>
            <a:br/>
            <a:r>
              <a:t>max</a:t>
            </a:r>
            <a:br/>
            <a:r>
              <a:t> ensures zero future information enters the pipeline.</a:t>
            </a:r>
            <a:br/>
            <a:br/>
            <a:r>
              <a:t>Significance: Classical transfer learning provides a large, statistically verified diagnostic advantage under low-data regimes.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ANSHUMAN BISWAS · CLASSICAL BASELINE (M2)</a:t>
            </a:r>
            <a:br/>
            <a:r>
              <a:t>PCA Dimensionality Reduction &amp; Classical Control (M2)</a:t>
            </a:r>
            <a:br/>
            <a:r>
              <a:t>COMPRESSION TRADE-OFFS &amp; DUAL CONVEX OPTIMIZATION</a:t>
            </a:r>
            <a:br/>
            <a:r>
              <a:t>Principal Component Analysis (PCA)</a:t>
            </a:r>
            <a:br/>
            <a:br/>
            <a:r>
              <a:t>Why PCA? Exact quantum simulation is constrained to 8 qubits. We project 512 dimensions to 8 orthogonal principal axes.</a:t>
            </a:r>
            <a:br/>
            <a:br/>
            <a:r>
              <a:t>Zero Data Leakage: PCA is fitted strictly on the </a:t>
            </a:r>
            <a:br/>
            <a:r>
              <a:t>𝑁</a:t>
            </a:r>
            <a:br/>
            <a:r>
              <a:t> training samples of each fold. At 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, matrix rank is at most </a:t>
            </a:r>
            <a:br/>
            <a:r>
              <a:t>𝑁</a:t>
            </a:r>
            <a:br/>
            <a:r>
              <a:t>−</a:t>
            </a:r>
            <a:br/>
            <a:r>
              <a:t>1</a:t>
            </a:r>
            <a:br/>
            <a:r>
              <a:t>=</a:t>
            </a:r>
            <a:br/>
            <a:r>
              <a:t>9</a:t>
            </a:r>
            <a:br/>
            <a:r>
              <a:t>.</a:t>
            </a:r>
            <a:br/>
            <a:br/>
            <a:r>
              <a:t>Variance Captured: 8 principal components explain </a:t>
            </a:r>
            <a:br/>
            <a:r>
              <a:t>≈</a:t>
            </a:r>
            <a:br/>
            <a:r>
              <a:t>77</a:t>
            </a:r>
            <a:br/>
            <a:r>
              <a:t>%</a:t>
            </a:r>
            <a:br/>
            <a:r>
              <a:t> cumulative variance. Min-max scaled to </a:t>
            </a:r>
            <a:br/>
            <a:r>
              <a:t>[</a:t>
            </a:r>
            <a:br/>
            <a:r>
              <a:t>0</a:t>
            </a:r>
            <a:br/>
            <a:r>
              <a:t>,</a:t>
            </a:r>
            <a:br/>
            <a:r>
              <a:t>𝜋</a:t>
            </a:r>
            <a:br/>
            <a:r>
              <a:t>]</a:t>
            </a:r>
            <a:br/>
            <a:r>
              <a:t> for quantum gate rotation.</a:t>
            </a:r>
            <a:br/>
            <a:br/>
            <a:r>
              <a:t>Feature Integrity: Scaling test samples using training fold </a:t>
            </a:r>
            <a:br/>
            <a:r>
              <a:t>min</a:t>
            </a:r>
            <a:br/>
            <a:r>
              <a:t> and </a:t>
            </a:r>
            <a:br/>
            <a:r>
              <a:t>max</a:t>
            </a:r>
            <a:br/>
            <a:r>
              <a:t> ensures zero future information enters the pipeline.</a:t>
            </a:r>
            <a:br/>
            <a:r>
              <a:t>M2: Classical RBF-SVM (The True Control)</a:t>
            </a:r>
            <a:br/>
            <a:br/>
            <a:r>
              <a:t>The Scientific Benchmark: M2 uses the identical 8 PCA features and the exact same dual convex </a:t>
            </a:r>
            <a:br/>
            <a:r>
              <a:t>𝐶</a:t>
            </a:r>
            <a:br/>
            <a:r>
              <a:t>-SVM solver as M3:</a:t>
            </a:r>
            <a:br/>
            <a:br/>
            <a:r>
              <a:t>𝑘</a:t>
            </a:r>
            <a:br/>
            <a:r>
              <a:t>M2</a:t>
            </a:r>
            <a:br/>
            <a:r>
              <a:t>(</a:t>
            </a:r>
            <a:br/>
            <a:r>
              <a:t>𝑥</a:t>
            </a:r>
            <a:br/>
            <a:r>
              <a:t>,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=</a:t>
            </a:r>
            <a:br/>
            <a:r>
              <a:t>exp</a:t>
            </a:r>
            <a:br/>
            <a:r>
              <a:t>⁡</a:t>
            </a:r>
            <a:br/>
            <a:r>
              <a:t>(</a:t>
            </a:r>
            <a:br/>
            <a:r>
              <a:t>−</a:t>
            </a:r>
            <a:br/>
            <a:r>
              <a:t>𝛾</a:t>
            </a:r>
            <a:br/>
            <a:r>
              <a:t>‖</a:t>
            </a:r>
            <a:br/>
            <a:r>
              <a:t>𝑥</a:t>
            </a:r>
            <a:br/>
            <a:r>
              <a:t>−</a:t>
            </a:r>
            <a:br/>
            <a:r>
              <a:t>𝑥</a:t>
            </a:r>
            <a:br/>
            <a:r>
              <a:t>′</a:t>
            </a:r>
            <a:br/>
            <a:r>
              <a:t>‖</a:t>
            </a:r>
            <a:br/>
            <a:r>
              <a:t>2</a:t>
            </a:r>
            <a:br/>
            <a:r>
              <a:t>)</a:t>
            </a:r>
            <a:br/>
            <a:br/>
            <a:r>
              <a:t>Performance Lift Over Scratch CNN (M1):</a:t>
            </a:r>
            <a:br/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: </a:t>
            </a:r>
            <a:br/>
            <a:r>
              <a:t>+</a:t>
            </a:r>
            <a:br/>
            <a:r>
              <a:t>0.0488</a:t>
            </a:r>
            <a:br/>
            <a:r>
              <a:t> AUC (</a:t>
            </a:r>
            <a:br/>
            <a:r>
              <a:t>𝑝</a:t>
            </a:r>
            <a:br/>
            <a:r>
              <a:t>=</a:t>
            </a:r>
            <a:br/>
            <a:r>
              <a:t>0.044</a:t>
            </a:r>
            <a:br/>
            <a:r>
              <a:t>)</a:t>
            </a:r>
            <a:br/>
            <a:r>
              <a:t>𝑁</a:t>
            </a:r>
            <a:br/>
            <a:r>
              <a:t>=</a:t>
            </a:r>
            <a:br/>
            <a:r>
              <a:t>20</a:t>
            </a:r>
            <a:br/>
            <a:r>
              <a:t>: </a:t>
            </a:r>
            <a:br/>
            <a:r>
              <a:t>+</a:t>
            </a:r>
            <a:br/>
            <a:r>
              <a:t>0.0445</a:t>
            </a:r>
            <a:br/>
            <a:r>
              <a:t> AUC (</a:t>
            </a:r>
            <a:br/>
            <a:r>
              <a:t>𝑝</a:t>
            </a:r>
            <a:br/>
            <a:r>
              <a:t>=</a:t>
            </a:r>
            <a:br/>
            <a:r>
              <a:t>0.0010</a:t>
            </a:r>
            <a:br/>
            <a:r>
              <a:t>, survives Bonferroni)</a:t>
            </a:r>
            <a:br/>
            <a:r>
              <a:t>𝑁</a:t>
            </a:r>
            <a:br/>
            <a:r>
              <a:t>=</a:t>
            </a:r>
            <a:br/>
            <a:r>
              <a:t>50</a:t>
            </a:r>
            <a:br/>
            <a:r>
              <a:t>: </a:t>
            </a:r>
            <a:br/>
            <a:r>
              <a:t>+</a:t>
            </a:r>
            <a:br/>
            <a:r>
              <a:t>0.0211</a:t>
            </a:r>
            <a:br/>
            <a:r>
              <a:t> AUC (</a:t>
            </a:r>
            <a:br/>
            <a:r>
              <a:t>𝑝</a:t>
            </a:r>
            <a:br/>
            <a:r>
              <a:t>=</a:t>
            </a:r>
            <a:br/>
            <a:r>
              <a:t>0.0032</a:t>
            </a:r>
            <a:br/>
            <a:r>
              <a:t>, survives Bonferroni)</a:t>
            </a:r>
            <a:br/>
            <a:r>
              <a:t>𝑁</a:t>
            </a:r>
            <a:br/>
            <a:r>
              <a:t>=</a:t>
            </a:r>
            <a:br/>
            <a:r>
              <a:t>100</a:t>
            </a:r>
            <a:br/>
            <a:r>
              <a:t>: </a:t>
            </a:r>
            <a:br/>
            <a:r>
              <a:t>+</a:t>
            </a:r>
            <a:br/>
            <a:r>
              <a:t>0.0140</a:t>
            </a:r>
            <a:br/>
            <a:r>
              <a:t> AUC (</a:t>
            </a:r>
            <a:br/>
            <a:r>
              <a:t>𝑝</a:t>
            </a:r>
            <a:br/>
            <a:r>
              <a:t>=</a:t>
            </a:r>
            <a:br/>
            <a:r>
              <a:t>0.038</a:t>
            </a:r>
            <a:br/>
            <a:r>
              <a:t>)</a:t>
            </a:r>
            <a:br/>
            <a:r>
              <a:t>Significance: Classical transfer learning provides a large, statistically verified diagnostic advantage under low-data regimes.</a:t>
            </a:r>
            <a:br/>
            <a:r>
              <a:t>07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8: 8-Qubit Angle Encoding &amp; Hardware Circuit Topology</a:t>
            </a:r>
          </a:p>
          <a:p>
            <a:pPr>
              <a:defRPr i="1" sz="1100"/>
            </a:pPr>
            <a:r>
              <a:t>Presenter / Section: HIMMAT SIRWEE · QUANTUM CIRCUIT</a:t>
            </a:r>
          </a:p>
          <a:p>
            <a:pPr>
              <a:defRPr sz="1000"/>
            </a:pPr>
            <a:r>
              <a:t>Topic: BLOCH SPHERE REPRESENTATION &amp; ENTANGLING GATES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Re-Uploading: In 2-layer circuits, the rotation block and CNOT chain are repeated twice, doubling rotation angles.</a:t>
            </a:r>
            <a:br/>
            <a:br/>
            <a:r>
              <a:t>Crucial Finding: Because our simulation has zero noise, the quantum performance deficit is purely mathematical and algorithmic.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HIMMAT SIRWEE · QUANTUM CIRCUIT</a:t>
            </a:r>
            <a:br/>
            <a:r>
              <a:t>8-Qubit Angle Encoding &amp; Hardware Circuit Topology</a:t>
            </a:r>
            <a:br/>
            <a:r>
              <a:t>BLOCH SPHERE REPRESENTATION &amp; ENTANGLING GATES</a:t>
            </a:r>
            <a:br/>
            <a:r>
              <a:t>Angle Encoding Circuit Architecture</a:t>
            </a:r>
            <a:br/>
            <a:br/>
            <a:r>
              <a:t>The Register: 8 qubits initialized to </a:t>
            </a:r>
            <a:br/>
            <a:r>
              <a:t>|</a:t>
            </a:r>
            <a:br/>
            <a:r>
              <a:t>0</a:t>
            </a:r>
            <a:br/>
            <a:r>
              <a:t>⊗</a:t>
            </a:r>
            <a:br/>
            <a:r>
              <a:t>8</a:t>
            </a:r>
            <a:br/>
            <a:r>
              <a:t>⟩</a:t>
            </a:r>
            <a:br/>
            <a:r>
              <a:t>=</a:t>
            </a:r>
            <a:br/>
            <a:r>
              <a:t>|</a:t>
            </a:r>
            <a:br/>
            <a:r>
              <a:t>00000000</a:t>
            </a:r>
            <a:br/>
            <a:r>
              <a:t>⟩</a:t>
            </a:r>
            <a:br/>
            <a:r>
              <a:t>. Each PCA component </a:t>
            </a:r>
            <a:br/>
            <a:r>
              <a:t>𝜃</a:t>
            </a:r>
            <a:br/>
            <a:r>
              <a:t>𝑖</a:t>
            </a:r>
            <a:br/>
            <a:r>
              <a:t> drives one qubit.</a:t>
            </a:r>
            <a:br/>
            <a:br/>
            <a:r>
              <a:t>Single-Qubit Gate Rotations: On each qubit </a:t>
            </a:r>
            <a:br/>
            <a:r>
              <a:t>𝑖</a:t>
            </a:r>
            <a:br/>
            <a:r>
              <a:t> with scale </a:t>
            </a:r>
            <a:br/>
            <a:r>
              <a:t>𝑠</a:t>
            </a:r>
            <a:br/>
            <a:r>
              <a:t>:</a:t>
            </a:r>
            <a:br/>
            <a:br/>
            <a:r>
              <a:t>𝑅</a:t>
            </a:r>
            <a:br/>
            <a:r>
              <a:t>𝑌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𝑖</a:t>
            </a:r>
            <a:br/>
            <a:r>
              <a:t>)</a:t>
            </a:r>
            <a:br/>
            <a:r>
              <a:t>=</a:t>
            </a:r>
            <a:br/>
            <a:r>
              <a:t>exp</a:t>
            </a:r>
            <a:br/>
            <a:r>
              <a:t>⁡</a:t>
            </a:r>
            <a:br/>
            <a:r>
              <a:t>(</a:t>
            </a:r>
            <a:br/>
            <a:r>
              <a:t>−</a:t>
            </a:r>
            <a:br/>
            <a:r>
              <a:t>𝑖</a:t>
            </a:r>
            <a:br/>
            <a:r>
              <a:t>𝑠</a:t>
            </a:r>
            <a:br/>
            <a:r>
              <a:t>𝜃</a:t>
            </a:r>
            <a:br/>
            <a:r>
              <a:t>𝑖</a:t>
            </a:r>
            <a:br/>
            <a:r>
              <a:t>2</a:t>
            </a:r>
            <a:br/>
            <a:r>
              <a:t>𝑌</a:t>
            </a:r>
            <a:br/>
            <a:r>
              <a:t>)</a:t>
            </a:r>
            <a:br/>
            <a:r>
              <a:t>,</a:t>
            </a:r>
            <a:br/>
            <a:r>
              <a:t>𝑅</a:t>
            </a:r>
            <a:br/>
            <a:r>
              <a:t>𝑍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𝑖</a:t>
            </a:r>
            <a:br/>
            <a:r>
              <a:t>)</a:t>
            </a:r>
            <a:br/>
            <a:r>
              <a:t>=</a:t>
            </a:r>
            <a:br/>
            <a:r>
              <a:t>exp</a:t>
            </a:r>
            <a:br/>
            <a:r>
              <a:t>⁡</a:t>
            </a:r>
            <a:br/>
            <a:r>
              <a:t>(</a:t>
            </a:r>
            <a:br/>
            <a:r>
              <a:t>−</a:t>
            </a:r>
            <a:br/>
            <a:r>
              <a:t>𝑖</a:t>
            </a:r>
            <a:br/>
            <a:r>
              <a:t>𝑠</a:t>
            </a:r>
            <a:br/>
            <a:r>
              <a:t>𝜃</a:t>
            </a:r>
            <a:br/>
            <a:r>
              <a:t>𝑖</a:t>
            </a:r>
            <a:br/>
            <a:r>
              <a:t>2</a:t>
            </a:r>
            <a:br/>
            <a:r>
              <a:t>𝑍</a:t>
            </a:r>
            <a:br/>
            <a:r>
              <a:t>)</a:t>
            </a:r>
            <a:br/>
            <a:br/>
            <a:r>
              <a:t>Circular Entangling Ring: Closed CNOT chain: </a:t>
            </a:r>
            <a:br/>
            <a:r>
              <a:t>(</a:t>
            </a:r>
            <a:br/>
            <a:r>
              <a:t>0</a:t>
            </a:r>
            <a:br/>
            <a:r>
              <a:t>,</a:t>
            </a:r>
            <a:br/>
            <a:r>
              <a:t>1</a:t>
            </a:r>
            <a:br/>
            <a:r>
              <a:t>)</a:t>
            </a:r>
            <a:br/>
            <a:r>
              <a:t>,</a:t>
            </a:r>
            <a:br/>
            <a:r>
              <a:t>(</a:t>
            </a:r>
            <a:br/>
            <a:r>
              <a:t>1</a:t>
            </a:r>
            <a:br/>
            <a:r>
              <a:t>,</a:t>
            </a:r>
            <a:br/>
            <a:r>
              <a:t>2</a:t>
            </a:r>
            <a:br/>
            <a:r>
              <a:t>)</a:t>
            </a:r>
            <a:br/>
            <a:r>
              <a:t>,</a:t>
            </a:r>
            <a:br/>
            <a:r>
              <a:t>…</a:t>
            </a:r>
            <a:br/>
            <a:r>
              <a:t>,</a:t>
            </a:r>
            <a:br/>
            <a:r>
              <a:t>(</a:t>
            </a:r>
            <a:br/>
            <a:r>
              <a:t>6</a:t>
            </a:r>
            <a:br/>
            <a:r>
              <a:t>,</a:t>
            </a:r>
            <a:br/>
            <a:r>
              <a:t>7</a:t>
            </a:r>
            <a:br/>
            <a:r>
              <a:t>)</a:t>
            </a:r>
            <a:br/>
            <a:r>
              <a:t>,</a:t>
            </a:r>
            <a:br/>
            <a:r>
              <a:t>(</a:t>
            </a:r>
            <a:br/>
            <a:r>
              <a:t>7</a:t>
            </a:r>
            <a:br/>
            <a:r>
              <a:t>,</a:t>
            </a:r>
            <a:br/>
            <a:r>
              <a:t>0</a:t>
            </a:r>
            <a:br/>
            <a:r>
              <a:t>)</a:t>
            </a:r>
            <a:br/>
            <a:r>
              <a:t> generates multi-particle entanglement.</a:t>
            </a:r>
            <a:br/>
            <a:br/>
            <a:r>
              <a:t>Re-Uploading: In 2-layer circuits, the rotation block and CNOT chain are repeated twice, doubling rotation angles.</a:t>
            </a:r>
            <a:br/>
            <a:r>
              <a:t>Statevector Simulation vs. Physical NISQ Hardware</a:t>
            </a:r>
            <a:br/>
            <a:br/>
            <a:r>
              <a:t>Noiseless Statevector (PennyLane lightning.qubit): We simulate state vectors exactly without shot noise. Statevector dimension is </a:t>
            </a:r>
            <a:br/>
            <a:r>
              <a:t>2</a:t>
            </a:r>
            <a:br/>
            <a:r>
              <a:t>8</a:t>
            </a:r>
            <a:br/>
            <a:r>
              <a:t>=</a:t>
            </a:r>
            <a:br/>
            <a:r>
              <a:t>256</a:t>
            </a:r>
            <a:br/>
            <a:r>
              <a:t> complex amplitudes.</a:t>
            </a:r>
            <a:br/>
            <a:br/>
            <a:r>
              <a:t>What Real NISQ QPUs Face:</a:t>
            </a:r>
            <a:br/>
            <a:br/>
            <a:r>
              <a:t>Finite shot noise: statistical standard error </a:t>
            </a:r>
            <a:br/>
            <a:r>
              <a:t>∼</a:t>
            </a:r>
            <a:br/>
            <a:r>
              <a:t>1</a:t>
            </a:r>
            <a:br/>
            <a:r>
              <a:t>/</a:t>
            </a:r>
            <a:br/>
            <a:r>
              <a:t>shots</a:t>
            </a:r>
            <a:br/>
            <a:r>
              <a:t>.</a:t>
            </a:r>
            <a:br/>
            <a:r>
              <a:t>Thermal relaxation (</a:t>
            </a:r>
            <a:br/>
            <a:r>
              <a:t>𝑇</a:t>
            </a:r>
            <a:br/>
            <a:r>
              <a:t>1</a:t>
            </a:r>
            <a:br/>
            <a:r>
              <a:t>) and dephasing (</a:t>
            </a:r>
            <a:br/>
            <a:r>
              <a:t>𝑇</a:t>
            </a:r>
            <a:br/>
            <a:r>
              <a:t>2</a:t>
            </a:r>
            <a:br/>
            <a:r>
              <a:t>).</a:t>
            </a:r>
            <a:br/>
            <a:r>
              <a:t>CNOT routing overhead across physical qubit coupling topologies.</a:t>
            </a:r>
            <a:br/>
            <a:r>
              <a:t>Crucial Finding: Because our simulation has zero noise, the quantum performance deficit is purely mathematical and algorithmic.</a:t>
            </a:r>
            <a:br/>
            <a:r>
              <a:t>08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9: Analytical Derivation: 1-Layer Product State &amp; Small-s Duality</a:t>
            </a:r>
          </a:p>
          <a:p>
            <a:pPr>
              <a:defRPr i="1" sz="1100"/>
            </a:pPr>
            <a:r>
              <a:t>Presenter / Section: HIMMAT SIRWEE · MATHEMATICAL DERIVATION</a:t>
            </a:r>
          </a:p>
          <a:p>
            <a:pPr>
              <a:defRPr sz="1000"/>
            </a:pPr>
            <a:r>
              <a:t>Topic: CLOSED-FORM BLOCH VECTOR &amp; CLASSICAL EQUIVALENCE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Geometry: </a:t>
            </a:r>
            <a:br/>
            <a:r>
              <a:t>⟨</a:t>
            </a:r>
            <a:br/>
            <a:r>
              <a:t>𝑌</a:t>
            </a:r>
            <a:br/>
            <a:r>
              <a:t>⟩</a:t>
            </a:r>
            <a:br/>
            <a:r>
              <a:t> is non-zero because </a:t>
            </a:r>
            <a:br/>
            <a:r>
              <a:t>𝑅</a:t>
            </a:r>
            <a:br/>
            <a:r>
              <a:t>𝑍</a:t>
            </a:r>
            <a:br/>
            <a:r>
              <a:t> rotates the state off the meridian into the Bloch sphere interior.</a:t>
            </a:r>
            <a:br/>
            <a:br/>
            <a:r>
              <a:t>Why M3 Matches M2 at Small s: The quantum circuit only performs well when its quantum characteristics are suppressed to mimic a classical map!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HIMMAT SIRWEE · MATHEMATICAL DERIVATION</a:t>
            </a:r>
            <a:br/>
            <a:r>
              <a:t>Analytical Derivation: 1-Layer Product State &amp; Small-s Duality</a:t>
            </a:r>
            <a:br/>
            <a:r>
              <a:t>CLOSED-FORM BLOCH VECTOR &amp; CLASSICAL EQUIVALENCE</a:t>
            </a:r>
            <a:br/>
            <a:r>
              <a:t>Exact Closed Form (1-Layer, Unentangled)</a:t>
            </a:r>
            <a:br/>
            <a:br/>
            <a:r>
              <a:t>Applying </a:t>
            </a:r>
            <a:br/>
            <a:r>
              <a:t>𝑅</a:t>
            </a:r>
            <a:br/>
            <a:r>
              <a:t>𝑌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 to </a:t>
            </a:r>
            <a:br/>
            <a:r>
              <a:t>|</a:t>
            </a:r>
            <a:br/>
            <a:r>
              <a:t>0</a:t>
            </a:r>
            <a:br/>
            <a:r>
              <a:t>⟩</a:t>
            </a:r>
            <a:br/>
            <a:r>
              <a:t> rotates the state in the </a:t>
            </a:r>
            <a:br/>
            <a:r>
              <a:t>𝑋</a:t>
            </a:r>
            <a:br/>
            <a:r>
              <a:t>-</a:t>
            </a:r>
            <a:br/>
            <a:r>
              <a:t>𝑍</a:t>
            </a:r>
            <a:br/>
            <a:r>
              <a:t> plane:</a:t>
            </a:r>
            <a:br/>
            <a:br/>
            <a:r>
              <a:t>|</a:t>
            </a:r>
            <a:br/>
            <a:r>
              <a:t>𝜓</a:t>
            </a:r>
            <a:br/>
            <a:r>
              <a:t>1</a:t>
            </a:r>
            <a:br/>
            <a:r>
              <a:t>⟩</a:t>
            </a:r>
            <a:br/>
            <a:r>
              <a:t>=</a:t>
            </a:r>
            <a:br/>
            <a:r>
              <a:t>cos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/</a:t>
            </a:r>
            <a:br/>
            <a:r>
              <a:t>2</a:t>
            </a:r>
            <a:br/>
            <a:r>
              <a:t>)</a:t>
            </a:r>
            <a:br/>
            <a:r>
              <a:t>|</a:t>
            </a:r>
            <a:br/>
            <a:r>
              <a:t>0</a:t>
            </a:r>
            <a:br/>
            <a:r>
              <a:t>⟩</a:t>
            </a:r>
            <a:br/>
            <a:r>
              <a:t>+</a:t>
            </a:r>
            <a:br/>
            <a:r>
              <a:t>sin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/</a:t>
            </a:r>
            <a:br/>
            <a:r>
              <a:t>2</a:t>
            </a:r>
            <a:br/>
            <a:r>
              <a:t>)</a:t>
            </a:r>
            <a:br/>
            <a:r>
              <a:t>|</a:t>
            </a:r>
            <a:br/>
            <a:r>
              <a:t>1</a:t>
            </a:r>
            <a:br/>
            <a:r>
              <a:t>⟩</a:t>
            </a:r>
            <a:br/>
            <a:br/>
            <a:r>
              <a:t>Applying </a:t>
            </a:r>
            <a:br/>
            <a:r>
              <a:t>𝑅</a:t>
            </a:r>
            <a:br/>
            <a:r>
              <a:t>𝑍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 adds a relative phase shift to </a:t>
            </a:r>
            <a:br/>
            <a:r>
              <a:t>|</a:t>
            </a:r>
            <a:br/>
            <a:r>
              <a:t>1</a:t>
            </a:r>
            <a:br/>
            <a:r>
              <a:t>⟩</a:t>
            </a:r>
            <a:br/>
            <a:r>
              <a:t>:</a:t>
            </a:r>
            <a:br/>
            <a:br/>
            <a:r>
              <a:t>|</a:t>
            </a:r>
            <a:br/>
            <a:r>
              <a:t>𝜓</a:t>
            </a:r>
            <a:br/>
            <a:r>
              <a:t>⟩</a:t>
            </a:r>
            <a:br/>
            <a:r>
              <a:t>=</a:t>
            </a:r>
            <a:br/>
            <a:r>
              <a:t>cos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/</a:t>
            </a:r>
            <a:br/>
            <a:r>
              <a:t>2</a:t>
            </a:r>
            <a:br/>
            <a:r>
              <a:t>)</a:t>
            </a:r>
            <a:br/>
            <a:r>
              <a:t>|</a:t>
            </a:r>
            <a:br/>
            <a:r>
              <a:t>0</a:t>
            </a:r>
            <a:br/>
            <a:r>
              <a:t>⟩</a:t>
            </a:r>
            <a:br/>
            <a:r>
              <a:t>+</a:t>
            </a:r>
            <a:br/>
            <a:r>
              <a:t>𝑒</a:t>
            </a:r>
            <a:br/>
            <a:r>
              <a:t>𝑖</a:t>
            </a:r>
            <a:br/>
            <a:r>
              <a:t>𝑠</a:t>
            </a:r>
            <a:br/>
            <a:r>
              <a:t>𝜃</a:t>
            </a:r>
            <a:br/>
            <a:r>
              <a:t>sin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/</a:t>
            </a:r>
            <a:br/>
            <a:r>
              <a:t>2</a:t>
            </a:r>
            <a:br/>
            <a:r>
              <a:t>)</a:t>
            </a:r>
            <a:br/>
            <a:r>
              <a:t>|</a:t>
            </a:r>
            <a:br/>
            <a:r>
              <a:t>1</a:t>
            </a:r>
            <a:br/>
            <a:r>
              <a:t>⟩</a:t>
            </a:r>
            <a:br/>
            <a:br/>
            <a:r>
              <a:t>Computing expectation values </a:t>
            </a:r>
            <a:br/>
            <a:r>
              <a:t>⟨</a:t>
            </a:r>
            <a:br/>
            <a:r>
              <a:t>𝑃</a:t>
            </a:r>
            <a:br/>
            <a:r>
              <a:t>⟩</a:t>
            </a:r>
            <a:br/>
            <a:r>
              <a:t>=</a:t>
            </a:r>
            <a:br/>
            <a:r>
              <a:t>⟨</a:t>
            </a:r>
            <a:br/>
            <a:r>
              <a:t>𝜓</a:t>
            </a:r>
            <a:br/>
            <a:r>
              <a:t>|</a:t>
            </a:r>
            <a:br/>
            <a:r>
              <a:t>𝑃</a:t>
            </a:r>
            <a:br/>
            <a:r>
              <a:t>|</a:t>
            </a:r>
            <a:br/>
            <a:r>
              <a:t>𝜓</a:t>
            </a:r>
            <a:br/>
            <a:r>
              <a:t>⟩</a:t>
            </a:r>
            <a:br/>
            <a:r>
              <a:t> for all three Pauli matrices:</a:t>
            </a:r>
            <a:br/>
            <a:br/>
            <a:r>
              <a:t>⟨</a:t>
            </a:r>
            <a:br/>
            <a:r>
              <a:t>𝑋</a:t>
            </a:r>
            <a:br/>
            <a:r>
              <a:t>⟩</a:t>
            </a:r>
            <a:br/>
            <a:r>
              <a:t>=</a:t>
            </a:r>
            <a:br/>
            <a:r>
              <a:t>sin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cos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,</a:t>
            </a:r>
            <a:br/>
            <a:r>
              <a:t>⟨</a:t>
            </a:r>
            <a:br/>
            <a:r>
              <a:t>𝑌</a:t>
            </a:r>
            <a:br/>
            <a:r>
              <a:t>⟩</a:t>
            </a:r>
            <a:br/>
            <a:r>
              <a:t>=</a:t>
            </a:r>
            <a:br/>
            <a:r>
              <a:t>sin</a:t>
            </a:r>
            <a:br/>
            <a:r>
              <a:t>2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,</a:t>
            </a:r>
            <a:br/>
            <a:r>
              <a:t>⟨</a:t>
            </a:r>
            <a:br/>
            <a:r>
              <a:t>𝑍</a:t>
            </a:r>
            <a:br/>
            <a:r>
              <a:t>⟩</a:t>
            </a:r>
            <a:br/>
            <a:r>
              <a:t>=</a:t>
            </a:r>
            <a:br/>
            <a:r>
              <a:t>cos</a:t>
            </a:r>
            <a:br/>
            <a:r>
              <a:t>⁡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Geometry: </a:t>
            </a:r>
            <a:br/>
            <a:r>
              <a:t>⟨</a:t>
            </a:r>
            <a:br/>
            <a:r>
              <a:t>𝑌</a:t>
            </a:r>
            <a:br/>
            <a:r>
              <a:t>⟩</a:t>
            </a:r>
            <a:br/>
            <a:r>
              <a:t> is non-zero because </a:t>
            </a:r>
            <a:br/>
            <a:r>
              <a:t>𝑅</a:t>
            </a:r>
            <a:br/>
            <a:r>
              <a:t>𝑍</a:t>
            </a:r>
            <a:br/>
            <a:r>
              <a:t> rotates the state off the meridian into the Bloch sphere interior.</a:t>
            </a:r>
            <a:br/>
            <a:r>
              <a:t>Small-s Linearization (The Classical Duality)</a:t>
            </a:r>
            <a:br/>
            <a:br/>
            <a:r>
              <a:t>When scale factor </a:t>
            </a:r>
            <a:br/>
            <a:r>
              <a:t>𝑠</a:t>
            </a:r>
            <a:br/>
            <a:r>
              <a:t> is tuned small (</a:t>
            </a:r>
            <a:br/>
            <a:r>
              <a:t>𝑠</a:t>
            </a:r>
            <a:br/>
            <a:r>
              <a:t>∈</a:t>
            </a:r>
            <a:br/>
            <a:r>
              <a:t>{</a:t>
            </a:r>
            <a:br/>
            <a:r>
              <a:t>0.0625</a:t>
            </a:r>
            <a:br/>
            <a:r>
              <a:t>,</a:t>
            </a:r>
            <a:br/>
            <a:r>
              <a:t>0.125</a:t>
            </a:r>
            <a:br/>
            <a:r>
              <a:t>}</a:t>
            </a:r>
            <a:br/>
            <a:r>
              <a:t>), Taylor expansion of the closed-form trigonometric functions gives:</a:t>
            </a:r>
            <a:br/>
            <a:br/>
            <a:r>
              <a:t>⟨</a:t>
            </a:r>
            <a:br/>
            <a:r>
              <a:t>𝑋</a:t>
            </a:r>
            <a:br/>
            <a:r>
              <a:t>⟩</a:t>
            </a:r>
            <a:br/>
            <a:r>
              <a:t>≈</a:t>
            </a:r>
            <a:br/>
            <a:r>
              <a:t>𝑠</a:t>
            </a:r>
            <a:br/>
            <a:r>
              <a:t>𝜃</a:t>
            </a:r>
            <a:br/>
            <a:r>
              <a:t>,</a:t>
            </a:r>
            <a:br/>
            <a:r>
              <a:t>⟨</a:t>
            </a:r>
            <a:br/>
            <a:r>
              <a:t>𝑌</a:t>
            </a:r>
            <a:br/>
            <a:r>
              <a:t>⟩</a:t>
            </a:r>
            <a:br/>
            <a:r>
              <a:t>≈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2</a:t>
            </a:r>
            <a:br/>
            <a:r>
              <a:t>,</a:t>
            </a:r>
            <a:br/>
            <a:r>
              <a:t>⟨</a:t>
            </a:r>
            <a:br/>
            <a:r>
              <a:t>𝑍</a:t>
            </a:r>
            <a:br/>
            <a:r>
              <a:t>⟩</a:t>
            </a:r>
            <a:br/>
            <a:r>
              <a:t>≈</a:t>
            </a:r>
            <a:br/>
            <a:r>
              <a:t>1</a:t>
            </a:r>
            <a:br/>
            <a:r>
              <a:t>−</a:t>
            </a:r>
            <a:br/>
            <a:r>
              <a:t>(</a:t>
            </a:r>
            <a:br/>
            <a:r>
              <a:t>𝑠</a:t>
            </a:r>
            <a:br/>
            <a:r>
              <a:t>𝜃</a:t>
            </a:r>
            <a:br/>
            <a:r>
              <a:t>)</a:t>
            </a:r>
            <a:br/>
            <a:r>
              <a:t>2</a:t>
            </a:r>
            <a:br/>
            <a:r>
              <a:t>2</a:t>
            </a:r>
            <a:br/>
            <a:br/>
            <a:r>
              <a:t>The Classical Duality Consequence:</a:t>
            </a:r>
            <a:br/>
            <a:br/>
            <a:r>
              <a:t>The quantum observables become strictly linear in </a:t>
            </a:r>
            <a:br/>
            <a:r>
              <a:t>⟨</a:t>
            </a:r>
            <a:br/>
            <a:r>
              <a:t>𝑋</a:t>
            </a:r>
            <a:br/>
            <a:r>
              <a:t>⟩</a:t>
            </a:r>
            <a:br/>
            <a:r>
              <a:t> and quadratic in </a:t>
            </a:r>
            <a:br/>
            <a:r>
              <a:t>⟨</a:t>
            </a:r>
            <a:br/>
            <a:r>
              <a:t>𝑌</a:t>
            </a:r>
            <a:br/>
            <a:r>
              <a:t>⟩</a:t>
            </a:r>
            <a:br/>
            <a:r>
              <a:t> and </a:t>
            </a:r>
            <a:br/>
            <a:r>
              <a:t>⟨</a:t>
            </a:r>
            <a:br/>
            <a:r>
              <a:t>𝑍</a:t>
            </a:r>
            <a:br/>
            <a:r>
              <a:t>⟩</a:t>
            </a:r>
            <a:br/>
            <a:r>
              <a:t>.</a:t>
            </a:r>
            <a:br/>
            <a:r>
              <a:t>Feeding these into a classical RBF kernel reduces the model to a classical polynomial/RBF kernel.</a:t>
            </a:r>
            <a:br/>
            <a:r>
              <a:t>Why M3 Matches M2 at Small s: The quantum circuit only performs well when its quantum characteristics are suppressed to mimic a classical map!</a:t>
            </a:r>
            <a:br/>
            <a:r>
              <a:t>09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10: Physical Failure Modes: Phase Wrapping &amp; Entanglement Collapse</a:t>
            </a:r>
          </a:p>
          <a:p>
            <a:pPr>
              <a:defRPr i="1" sz="1100"/>
            </a:pPr>
            <a:r>
              <a:t>Presenter / Section: HIMMAT SIRWEE · PHYSICAL MECHANICS</a:t>
            </a:r>
          </a:p>
          <a:p>
            <a:pPr>
              <a:defRPr sz="1000"/>
            </a:pPr>
            <a:r>
              <a:t>Topic: WHY DEFAULT ENCODING (S = 1) AND CNOT GATES DEGRADE PERFORMANCE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Physical Remedy: Compressing angles (</a:t>
            </a:r>
            <a:br/>
            <a:r>
              <a:t>𝑠</a:t>
            </a:r>
            <a:br/>
            <a:r>
              <a:t>≤</a:t>
            </a:r>
            <a:br/>
            <a:r>
              <a:t>0.25</a:t>
            </a:r>
            <a:br/>
            <a:r>
              <a:t>) confines rotations to the monotonic quadrant </a:t>
            </a:r>
            <a:br/>
            <a:r>
              <a:t>[</a:t>
            </a:r>
            <a:br/>
            <a:r>
              <a:t>0</a:t>
            </a:r>
            <a:br/>
            <a:r>
              <a:t>,</a:t>
            </a:r>
            <a:br/>
            <a:r>
              <a:t>𝜋</a:t>
            </a:r>
            <a:br/>
            <a:r>
              <a:t>/</a:t>
            </a:r>
            <a:br/>
            <a:r>
              <a:t>4</a:t>
            </a:r>
            <a:br/>
            <a:r>
              <a:t>]</a:t>
            </a:r>
            <a:br/>
            <a:r>
              <a:t>, preventing turnaround.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HIMMAT SIRWEE · PHYSICAL MECHANICS</a:t>
            </a:r>
            <a:br/>
            <a:r>
              <a:t>Physical Failure Modes: Phase Wrapping &amp; Entanglement Collapse</a:t>
            </a:r>
            <a:br/>
            <a:r>
              <a:t>WHY DEFAULT ENCODING (S = 1) AND CNOT GATES DEGRADE PERFORMANCE</a:t>
            </a:r>
            <a:br/>
            <a:r>
              <a:t>The Phase Wrapping Bug &amp; Variance Collapse</a:t>
            </a:r>
            <a:br/>
            <a:br/>
            <a:r>
              <a:t>The Turnaround Bug (</a:t>
            </a:r>
            <a:br/>
            <a:r>
              <a:t>𝑠</a:t>
            </a:r>
            <a:br/>
            <a:r>
              <a:t>=</a:t>
            </a:r>
            <a:br/>
            <a:r>
              <a:t>1.00</a:t>
            </a:r>
            <a:br/>
            <a:r>
              <a:t>): In a 2-layer circuit, rotation angles accumulate. Because </a:t>
            </a:r>
            <a:br/>
            <a:r>
              <a:t>𝑈</a:t>
            </a:r>
            <a:br/>
            <a:r>
              <a:t>(</a:t>
            </a:r>
            <a:br/>
            <a:r>
              <a:t>𝜋</a:t>
            </a:r>
            <a:br/>
            <a:r>
              <a:t>)</a:t>
            </a:r>
            <a:br/>
            <a:r>
              <a:t>2</a:t>
            </a:r>
            <a:br/>
            <a:r>
              <a:t>|</a:t>
            </a:r>
            <a:br/>
            <a:r>
              <a:t>0</a:t>
            </a:r>
            <a:br/>
            <a:r>
              <a:t>⟩</a:t>
            </a:r>
            <a:br/>
            <a:r>
              <a:t>=</a:t>
            </a:r>
            <a:br/>
            <a:r>
              <a:t>|</a:t>
            </a:r>
            <a:br/>
            <a:r>
              <a:t>0</a:t>
            </a:r>
            <a:br/>
            <a:r>
              <a:t>⟩</a:t>
            </a:r>
            <a:br/>
            <a:r>
              <a:t>, </a:t>
            </a:r>
            <a:br/>
            <a:r>
              <a:t>⟨</a:t>
            </a:r>
            <a:br/>
            <a:r>
              <a:t>𝑍</a:t>
            </a:r>
            <a:br/>
            <a:r>
              <a:t>⟩</a:t>
            </a:r>
            <a:br/>
            <a:r>
              <a:t> drops to </a:t>
            </a:r>
            <a:br/>
            <a:r>
              <a:t>−</a:t>
            </a:r>
            <a:br/>
            <a:r>
              <a:t>1</a:t>
            </a:r>
            <a:br/>
            <a:r>
              <a:t> at </a:t>
            </a:r>
            <a:br/>
            <a:r>
              <a:t>𝜃</a:t>
            </a:r>
            <a:br/>
            <a:r>
              <a:t>=</a:t>
            </a:r>
            <a:br/>
            <a:r>
              <a:t>𝜋</a:t>
            </a:r>
            <a:br/>
            <a:r>
              <a:t>/</a:t>
            </a:r>
            <a:br/>
            <a:r>
              <a:t>2</a:t>
            </a:r>
            <a:br/>
            <a:r>
              <a:t> and then turns around, returning to </a:t>
            </a:r>
            <a:br/>
            <a:r>
              <a:t>+</a:t>
            </a:r>
            <a:br/>
            <a:r>
              <a:t>1</a:t>
            </a:r>
            <a:br/>
            <a:r>
              <a:t> at </a:t>
            </a:r>
            <a:br/>
            <a:r>
              <a:t>𝜃</a:t>
            </a:r>
            <a:br/>
            <a:r>
              <a:t>=</a:t>
            </a:r>
            <a:br/>
            <a:r>
              <a:t>𝜋</a:t>
            </a:r>
            <a:br/>
            <a:r>
              <a:t>:</a:t>
            </a:r>
            <a:br/>
            <a:br/>
            <a:r>
              <a:t>⟨</a:t>
            </a:r>
            <a:br/>
            <a:r>
              <a:t>𝑍</a:t>
            </a:r>
            <a:br/>
            <a:r>
              <a:t>(</a:t>
            </a:r>
            <a:br/>
            <a:r>
              <a:t>𝜃</a:t>
            </a:r>
            <a:br/>
            <a:r>
              <a:t>=</a:t>
            </a:r>
            <a:br/>
            <a:r>
              <a:t>0</a:t>
            </a:r>
            <a:br/>
            <a:r>
              <a:t>)</a:t>
            </a:r>
            <a:br/>
            <a:r>
              <a:t>⟩</a:t>
            </a:r>
            <a:br/>
            <a:r>
              <a:t>=</a:t>
            </a:r>
            <a:br/>
            <a:r>
              <a:t>+</a:t>
            </a:r>
            <a:br/>
            <a:r>
              <a:t>1</a:t>
            </a:r>
            <a:br/>
            <a:r>
              <a:t>and</a:t>
            </a:r>
            <a:br/>
            <a:r>
              <a:t>⟨</a:t>
            </a:r>
            <a:br/>
            <a:r>
              <a:t>𝑍</a:t>
            </a:r>
            <a:br/>
            <a:r>
              <a:t>(</a:t>
            </a:r>
            <a:br/>
            <a:r>
              <a:t>𝜃</a:t>
            </a:r>
            <a:br/>
            <a:r>
              <a:t>=</a:t>
            </a:r>
            <a:br/>
            <a:r>
              <a:t>𝜋</a:t>
            </a:r>
            <a:br/>
            <a:r>
              <a:t>)</a:t>
            </a:r>
            <a:br/>
            <a:r>
              <a:t>⟩</a:t>
            </a:r>
            <a:br/>
            <a:r>
              <a:t>=</a:t>
            </a:r>
            <a:br/>
            <a:r>
              <a:t>+</a:t>
            </a:r>
            <a:br/>
            <a:r>
              <a:t>1</a:t>
            </a:r>
            <a:br/>
            <a:br/>
            <a:r>
              <a:t>Clinical Disaster: Low-opacity healthy lungs (</a:t>
            </a:r>
            <a:br/>
            <a:r>
              <a:t>𝜃</a:t>
            </a:r>
            <a:br/>
            <a:r>
              <a:t>≈</a:t>
            </a:r>
            <a:br/>
            <a:r>
              <a:t>0</a:t>
            </a:r>
            <a:br/>
            <a:r>
              <a:t>) and dense pneumonia consolidations (</a:t>
            </a:r>
            <a:br/>
            <a:r>
              <a:t>𝜃</a:t>
            </a:r>
            <a:br/>
            <a:r>
              <a:t>≈</a:t>
            </a:r>
            <a:br/>
            <a:r>
              <a:t>𝜋</a:t>
            </a:r>
            <a:br/>
            <a:r>
              <a:t>) get mapped to the exact same point!</a:t>
            </a:r>
            <a:br/>
            <a:br/>
            <a:r>
              <a:t>Entanglement Variance Collapse: CNOTs put individual qubits into mixed states. Feature variance collapses 34-fold (from </a:t>
            </a:r>
            <a:br/>
            <a:r>
              <a:t>0.290</a:t>
            </a:r>
            <a:br/>
            <a:r>
              <a:t> down to </a:t>
            </a:r>
            <a:br/>
            <a:r>
              <a:t>0.0085</a:t>
            </a:r>
            <a:br/>
            <a:r>
              <a:t>).</a:t>
            </a:r>
            <a:br/>
            <a:br/>
            <a:r>
              <a:t>Physical Remedy: Compressing angles (</a:t>
            </a:r>
            <a:br/>
            <a:r>
              <a:t>𝑠</a:t>
            </a:r>
            <a:br/>
            <a:r>
              <a:t>≤</a:t>
            </a:r>
            <a:br/>
            <a:r>
              <a:t>0.25</a:t>
            </a:r>
            <a:br/>
            <a:r>
              <a:t>) confines rotations to the monotonic quadrant </a:t>
            </a:r>
            <a:br/>
            <a:r>
              <a:t>[</a:t>
            </a:r>
            <a:br/>
            <a:r>
              <a:t>0</a:t>
            </a:r>
            <a:br/>
            <a:r>
              <a:t>,</a:t>
            </a:r>
            <a:br/>
            <a:r>
              <a:t>𝜋</a:t>
            </a:r>
            <a:br/>
            <a:r>
              <a:t>/</a:t>
            </a:r>
            <a:br/>
            <a:r>
              <a:t>4</a:t>
            </a:r>
            <a:br/>
            <a:r>
              <a:t>]</a:t>
            </a:r>
            <a:br/>
            <a:r>
              <a:t>, preventing turnaround.</a:t>
            </a:r>
            <a:br/>
            <a:r>
              <a:t>Figure 5: Bloch Vector Trajectory (Left: Monotonic s=0.25; Right: Turnaround at s=1.00)</a:t>
            </a:r>
            <a:br/>
            <a:r>
              <a:t>10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11: Projected Quantum Kernels vs. Fidelity Barren Plateaus</a:t>
            </a:r>
          </a:p>
          <a:p>
            <a:pPr>
              <a:defRPr i="1" sz="1100"/>
            </a:pPr>
            <a:r>
              <a:t>Presenter / Section: SAWAN KUMAR · KERNEL THEORY</a:t>
            </a:r>
          </a:p>
          <a:p>
            <a:pPr>
              <a:defRPr sz="1000"/>
            </a:pPr>
            <a:r>
              <a:t>Topic: MERCER CONDITION &amp; HILBERT SPACE CONCENTRATION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Barren Plateau Trap: Global overlap kernels lose all discriminative contrast as qubit count increases.</a:t>
            </a:r>
            <a:br/>
            <a:br/>
            <a:r>
              <a:t>Mercer Condition: Because </a:t>
            </a:r>
            <a:br/>
            <a:r>
              <a:t>𝑘</a:t>
            </a:r>
            <a:br/>
            <a:r>
              <a:t>PQK</a:t>
            </a:r>
            <a:br/>
            <a:r>
              <a:t> is a standard Gaussian RBF on </a:t>
            </a:r>
            <a:br/>
            <a:r>
              <a:t>𝑅</a:t>
            </a:r>
            <a:br/>
            <a:r>
              <a:t>3</a:t>
            </a:r>
            <a:br/>
            <a:r>
              <a:t>𝑛</a:t>
            </a:r>
            <a:br/>
            <a:r>
              <a:t>, positive semi-definiteness is guaranteed, keeping SVM dual optimization strictly convex.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SAWAN KUMAR · KERNEL THEORY</a:t>
            </a:r>
            <a:br/>
            <a:r>
              <a:t>Projected Quantum Kernels vs. Fidelity Barren Plateaus</a:t>
            </a:r>
            <a:br/>
            <a:r>
              <a:t>MERCER CONDITION &amp; HILBERT SPACE CONCENTRATION</a:t>
            </a:r>
            <a:br/>
            <a:r>
              <a:t>Global Fidelity Kernels Fail in High Dims</a:t>
            </a:r>
            <a:br/>
            <a:br/>
            <a:r>
              <a:t>Fidelity Definition: </a:t>
            </a:r>
            <a:br/>
            <a:r>
              <a:t>𝑘</a:t>
            </a:r>
            <a:br/>
            <a:r>
              <a:t>fid</a:t>
            </a:r>
            <a:br/>
            <a:r>
              <a:t>(</a:t>
            </a:r>
            <a:br/>
            <a:r>
              <a:t>𝑥</a:t>
            </a:r>
            <a:br/>
            <a:r>
              <a:t>,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=</a:t>
            </a:r>
            <a:br/>
            <a:r>
              <a:t>|</a:t>
            </a:r>
            <a:br/>
            <a:r>
              <a:t>⟨</a:t>
            </a:r>
            <a:br/>
            <a:r>
              <a:t>𝜙</a:t>
            </a:r>
            <a:br/>
            <a:r>
              <a:t>(</a:t>
            </a:r>
            <a:br/>
            <a:r>
              <a:t>𝑥</a:t>
            </a:r>
            <a:br/>
            <a:r>
              <a:t>)</a:t>
            </a:r>
            <a:br/>
            <a:r>
              <a:t>|</a:t>
            </a:r>
            <a:br/>
            <a:r>
              <a:t>𝜙</a:t>
            </a:r>
            <a:br/>
            <a:r>
              <a:t>(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⟩</a:t>
            </a:r>
            <a:br/>
            <a:r>
              <a:t>|</a:t>
            </a:r>
            <a:br/>
            <a:r>
              <a:t>2</a:t>
            </a:r>
            <a:br/>
            <a:r>
              <a:t>. For two single-qubit Bloch vectors </a:t>
            </a:r>
            <a:br/>
            <a:r>
              <a:t>𝑎</a:t>
            </a:r>
            <a:br/>
            <a:r>
              <a:t> and </a:t>
            </a:r>
            <a:br/>
            <a:r>
              <a:t>𝑏</a:t>
            </a:r>
            <a:br/>
            <a:r>
              <a:t>, </a:t>
            </a:r>
            <a:br/>
            <a:r>
              <a:t>𝑘</a:t>
            </a:r>
            <a:br/>
            <a:r>
              <a:t>fid</a:t>
            </a:r>
            <a:br/>
            <a:r>
              <a:t>=</a:t>
            </a:r>
            <a:br/>
            <a:r>
              <a:t>(</a:t>
            </a:r>
            <a:br/>
            <a:r>
              <a:t>1</a:t>
            </a:r>
            <a:br/>
            <a:r>
              <a:t>+</a:t>
            </a:r>
            <a:br/>
            <a:r>
              <a:t>𝑎</a:t>
            </a:r>
            <a:br/>
            <a:r>
              <a:t>⋅</a:t>
            </a:r>
            <a:br/>
            <a:r>
              <a:t>𝑏</a:t>
            </a:r>
            <a:br/>
            <a:r>
              <a:t>)</a:t>
            </a:r>
            <a:br/>
            <a:r>
              <a:t>/</a:t>
            </a:r>
            <a:br/>
            <a:r>
              <a:t>2</a:t>
            </a:r>
            <a:br/>
            <a:r>
              <a:t>.</a:t>
            </a:r>
            <a:br/>
            <a:br/>
            <a:r>
              <a:t>Exponential Concentration: In an </a:t>
            </a:r>
            <a:br/>
            <a:r>
              <a:t>𝑛</a:t>
            </a:r>
            <a:br/>
            <a:r>
              <a:t>-qubit Hilbert space (</a:t>
            </a:r>
            <a:br/>
            <a:r>
              <a:t>2</a:t>
            </a:r>
            <a:br/>
            <a:r>
              <a:t>𝑛</a:t>
            </a:r>
            <a:br/>
            <a:r>
              <a:t> dimensions), Haar-random quantum states become orthogonal with high probability. Kernel values concentrate around 0:</a:t>
            </a:r>
            <a:br/>
            <a:br/>
            <a:r>
              <a:t>Var</a:t>
            </a:r>
            <a:br/>
            <a:r>
              <a:t>𝑥</a:t>
            </a:r>
            <a:br/>
            <a:r>
              <a:t>,</a:t>
            </a:r>
            <a:br/>
            <a:r>
              <a:t>𝑥</a:t>
            </a:r>
            <a:br/>
            <a:r>
              <a:t>′</a:t>
            </a:r>
            <a:br/>
            <a:r>
              <a:t>[</a:t>
            </a:r>
            <a:br/>
            <a:r>
              <a:t>𝑘</a:t>
            </a:r>
            <a:br/>
            <a:r>
              <a:t>fid</a:t>
            </a:r>
            <a:br/>
            <a:r>
              <a:t>(</a:t>
            </a:r>
            <a:br/>
            <a:r>
              <a:t>𝑥</a:t>
            </a:r>
            <a:br/>
            <a:r>
              <a:t>,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]</a:t>
            </a:r>
            <a:br/>
            <a:r>
              <a:t>∼</a:t>
            </a:r>
            <a:br/>
            <a:r>
              <a:t>𝑂</a:t>
            </a:r>
            <a:br/>
            <a:r>
              <a:t>(</a:t>
            </a:r>
            <a:br/>
            <a:r>
              <a:t>2</a:t>
            </a:r>
            <a:br/>
            <a:r>
              <a:t>−</a:t>
            </a:r>
            <a:br/>
            <a:r>
              <a:t>𝑛</a:t>
            </a:r>
            <a:br/>
            <a:r>
              <a:t>)</a:t>
            </a:r>
            <a:br/>
            <a:br/>
            <a:r>
              <a:t>For large </a:t>
            </a:r>
            <a:br/>
            <a:r>
              <a:t>𝑛</a:t>
            </a:r>
            <a:br/>
            <a:r>
              <a:t>, the Gram matrix collapses to identity matrix </a:t>
            </a:r>
            <a:br/>
            <a:r>
              <a:t>𝐼</a:t>
            </a:r>
            <a:br/>
            <a:r>
              <a:t>, destroying classification.</a:t>
            </a:r>
            <a:br/>
            <a:br/>
            <a:r>
              <a:t>Barren Plateau Trap: Global overlap kernels lose all discriminative contrast as qubit count increases.</a:t>
            </a:r>
            <a:br/>
            <a:r>
              <a:t>Projected Quantum Kernels (Huang et al. 2021)</a:t>
            </a:r>
            <a:br/>
            <a:br/>
            <a:r>
              <a:t>Projection Mechanism: Instead of global state overlap, PQK projects the quantum state back to classical metric space via 1-particle reduced density matrices:</a:t>
            </a:r>
            <a:br/>
            <a:br/>
            <a:r>
              <a:t>𝐸</a:t>
            </a:r>
            <a:br/>
            <a:r>
              <a:t>(</a:t>
            </a:r>
            <a:br/>
            <a:r>
              <a:t>𝑥</a:t>
            </a:r>
            <a:br/>
            <a:r>
              <a:t>)</a:t>
            </a:r>
            <a:br/>
            <a:r>
              <a:t>=</a:t>
            </a:r>
            <a:br/>
            <a:r>
              <a:t>[</a:t>
            </a:r>
            <a:br/>
            <a:r>
              <a:t>⟨</a:t>
            </a:r>
            <a:br/>
            <a:r>
              <a:t>𝑋</a:t>
            </a:r>
            <a:br/>
            <a:r>
              <a:t>1</a:t>
            </a:r>
            <a:br/>
            <a:r>
              <a:t>⟩</a:t>
            </a:r>
            <a:br/>
            <a:r>
              <a:t>,</a:t>
            </a:r>
            <a:br/>
            <a:r>
              <a:t>⟨</a:t>
            </a:r>
            <a:br/>
            <a:r>
              <a:t>𝑌</a:t>
            </a:r>
            <a:br/>
            <a:r>
              <a:t>1</a:t>
            </a:r>
            <a:br/>
            <a:r>
              <a:t>⟩</a:t>
            </a:r>
            <a:br/>
            <a:r>
              <a:t>,</a:t>
            </a:r>
            <a:br/>
            <a:r>
              <a:t>⟨</a:t>
            </a:r>
            <a:br/>
            <a:r>
              <a:t>𝑍</a:t>
            </a:r>
            <a:br/>
            <a:r>
              <a:t>1</a:t>
            </a:r>
            <a:br/>
            <a:r>
              <a:t>⟩</a:t>
            </a:r>
            <a:br/>
            <a:r>
              <a:t>,</a:t>
            </a:r>
            <a:br/>
            <a:r>
              <a:t>…</a:t>
            </a:r>
            <a:br/>
            <a:r>
              <a:t>,</a:t>
            </a:r>
            <a:br/>
            <a:r>
              <a:t>⟨</a:t>
            </a:r>
            <a:br/>
            <a:r>
              <a:t>𝑍</a:t>
            </a:r>
            <a:br/>
            <a:r>
              <a:t>𝑛</a:t>
            </a:r>
            <a:br/>
            <a:r>
              <a:t>⟩</a:t>
            </a:r>
            <a:br/>
            <a:r>
              <a:t>]</a:t>
            </a:r>
            <a:br/>
            <a:r>
              <a:t>𝑇</a:t>
            </a:r>
            <a:br/>
            <a:r>
              <a:t>∈</a:t>
            </a:r>
            <a:br/>
            <a:r>
              <a:t>𝑅</a:t>
            </a:r>
            <a:br/>
            <a:r>
              <a:t>3</a:t>
            </a:r>
            <a:br/>
            <a:r>
              <a:t>𝑛</a:t>
            </a:r>
            <a:br/>
            <a:br/>
            <a:r>
              <a:t>A classical Gaussian RBF kernel is then evaluated on these </a:t>
            </a:r>
            <a:br/>
            <a:r>
              <a:t>3</a:t>
            </a:r>
            <a:br/>
            <a:r>
              <a:t>𝑛</a:t>
            </a:r>
            <a:br/>
            <a:r>
              <a:t> expectation values:</a:t>
            </a:r>
            <a:br/>
            <a:br/>
            <a:br/>
            <a:br/>
            <a:r>
              <a:t>𝑘</a:t>
            </a:r>
            <a:br/>
            <a:r>
              <a:t>PQK</a:t>
            </a:r>
            <a:br/>
            <a:r>
              <a:t>(</a:t>
            </a:r>
            <a:br/>
            <a:r>
              <a:t>𝑥</a:t>
            </a:r>
            <a:br/>
            <a:r>
              <a:t>,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=</a:t>
            </a:r>
            <a:br/>
            <a:r>
              <a:t>exp</a:t>
            </a:r>
            <a:br/>
            <a:r>
              <a:t>⁡</a:t>
            </a:r>
            <a:br/>
            <a:r>
              <a:t>(</a:t>
            </a:r>
            <a:br/>
            <a:r>
              <a:t>−</a:t>
            </a:r>
            <a:br/>
            <a:r>
              <a:t>𝛾</a:t>
            </a:r>
            <a:br/>
            <a:r>
              <a:t>∑</a:t>
            </a:r>
            <a:br/>
            <a:r>
              <a:t>𝑘</a:t>
            </a:r>
            <a:br/>
            <a:r>
              <a:t>=</a:t>
            </a:r>
            <a:br/>
            <a:r>
              <a:t>1</a:t>
            </a:r>
            <a:br/>
            <a:r>
              <a:t>3</a:t>
            </a:r>
            <a:br/>
            <a:r>
              <a:t>𝑛</a:t>
            </a:r>
            <a:br/>
            <a:r>
              <a:t>(</a:t>
            </a:r>
            <a:br/>
            <a:r>
              <a:t>𝐸</a:t>
            </a:r>
            <a:br/>
            <a:r>
              <a:t>𝑘</a:t>
            </a:r>
            <a:br/>
            <a:r>
              <a:t>(</a:t>
            </a:r>
            <a:br/>
            <a:r>
              <a:t>𝑥</a:t>
            </a:r>
            <a:br/>
            <a:r>
              <a:t>)</a:t>
            </a:r>
            <a:br/>
            <a:r>
              <a:t>−</a:t>
            </a:r>
            <a:br/>
            <a:r>
              <a:t>𝐸</a:t>
            </a:r>
            <a:br/>
            <a:r>
              <a:t>𝑘</a:t>
            </a:r>
            <a:br/>
            <a:r>
              <a:t>(</a:t>
            </a:r>
            <a:br/>
            <a:r>
              <a:t>𝑥</a:t>
            </a:r>
            <a:br/>
            <a:r>
              <a:t>′</a:t>
            </a:r>
            <a:br/>
            <a:r>
              <a:t>)</a:t>
            </a:r>
            <a:br/>
            <a:r>
              <a:t>)</a:t>
            </a:r>
            <a:br/>
            <a:r>
              <a:t>2</a:t>
            </a:r>
            <a:br/>
            <a:r>
              <a:t>)</a:t>
            </a:r>
            <a:br/>
            <a:r>
              <a:t>Mercer Condition: Because </a:t>
            </a:r>
            <a:br/>
            <a:r>
              <a:t>𝑘</a:t>
            </a:r>
            <a:br/>
            <a:r>
              <a:t>PQK</a:t>
            </a:r>
            <a:br/>
            <a:r>
              <a:t> is a standard Gaussian RBF on </a:t>
            </a:r>
            <a:br/>
            <a:r>
              <a:t>𝑅</a:t>
            </a:r>
            <a:br/>
            <a:r>
              <a:t>3</a:t>
            </a:r>
            <a:br/>
            <a:r>
              <a:t>𝑛</a:t>
            </a:r>
            <a:br/>
            <a:r>
              <a:t>, positive semi-definiteness is guaranteed, keeping SVM dual optimization strictly convex.</a:t>
            </a:r>
            <a:br/>
            <a:r>
              <a:t>11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12: Empirical Diagnostics &amp; The Tested ZZ Correlator Hypothesis</a:t>
            </a:r>
          </a:p>
          <a:p>
            <a:pPr>
              <a:defRPr i="1" sz="1100"/>
            </a:pPr>
            <a:r>
              <a:t>Presenter / Section: SAWAN KUMAR · DIAGNOSTICS &amp; ZZ ABLATION</a:t>
            </a:r>
          </a:p>
          <a:p>
            <a:pPr>
              <a:defRPr sz="1000"/>
            </a:pPr>
            <a:r>
              <a:t>Topic: DISTANCE SPREAD, SPEARMAN RANK &amp; OBSERVABLE SETS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Verdict: Discarded two-qubit correlators do not explain the entanglement deficit. The deficit is intrinsic to the entangling geometry.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SAWAN KUMAR · DIAGNOSTICS &amp; ZZ ABLATION</a:t>
            </a:r>
            <a:br/>
            <a:r>
              <a:t>Empirical Diagnostics &amp; The Tested ZZ Correlator Hypothesis</a:t>
            </a:r>
            <a:br/>
            <a:r>
              <a:t>DISTANCE SPREAD, SPEARMAN RANK &amp; OBSERVABLE SETS</a:t>
            </a:r>
            <a:br/>
            <a:r>
              <a:t>Figure 4: Kernel vs Euclidean Distance (Spearman Rank) &amp; Gram Variance Concentration</a:t>
            </a:r>
            <a:br/>
            <a:r>
              <a:t>The Refuted ZZ Correlator Hypothesis</a:t>
            </a:r>
            <a:br/>
            <a:br/>
            <a:r>
              <a:t>Spearman Rank Distortion: M2 classical RBF preserves geometric ordering (</a:t>
            </a:r>
            <a:br/>
            <a:r>
              <a:t>𝑟</a:t>
            </a:r>
            <a:br/>
            <a:r>
              <a:t>=</a:t>
            </a:r>
            <a:br/>
            <a:r>
              <a:t>0.998</a:t>
            </a:r>
            <a:br/>
            <a:r>
              <a:t>). Unentangled M3 preserves it well (</a:t>
            </a:r>
            <a:br/>
            <a:r>
              <a:t>𝑟</a:t>
            </a:r>
            <a:br/>
            <a:r>
              <a:t>=</a:t>
            </a:r>
            <a:br/>
            <a:r>
              <a:t>0.924</a:t>
            </a:r>
            <a:br/>
            <a:r>
              <a:t>). Entangled M3 distorts geometry severely (</a:t>
            </a:r>
            <a:br/>
            <a:r>
              <a:t>𝑟</a:t>
            </a:r>
            <a:br/>
            <a:r>
              <a:t>=</a:t>
            </a:r>
            <a:br/>
            <a:r>
              <a:t>0.412</a:t>
            </a:r>
            <a:br/>
            <a:r>
              <a:t>).</a:t>
            </a:r>
            <a:br/>
            <a:br/>
            <a:r>
              <a:t>The Hypothesis: Did entangled circuits perform poorly because 1-qubit Paulis discarded two-qubit quantum correlations created by CNOT gates?</a:t>
            </a:r>
            <a:br/>
            <a:br/>
            <a:r>
              <a:t>The Experiment: Added 8 nearest-neighbor </a:t>
            </a:r>
            <a:br/>
            <a:r>
              <a:t>⟨</a:t>
            </a:r>
            <a:br/>
            <a:r>
              <a:t>𝑍</a:t>
            </a:r>
            <a:br/>
            <a:r>
              <a:t>𝑖</a:t>
            </a:r>
            <a:br/>
            <a:r>
              <a:t>𝑍</a:t>
            </a:r>
            <a:br/>
            <a:r>
              <a:t>𝑖</a:t>
            </a:r>
            <a:br/>
            <a:r>
              <a:t>+</a:t>
            </a:r>
            <a:br/>
            <a:r>
              <a:t>1</a:t>
            </a:r>
            <a:br/>
            <a:r>
              <a:t>⟩</a:t>
            </a:r>
            <a:br/>
            <a:r>
              <a:t> observables (</a:t>
            </a:r>
            <a:br/>
            <a:r>
              <a:t>32</a:t>
            </a:r>
            <a:br/>
            <a:r>
              <a:t> total expectations) on 8Q 2L Ent across 5 seeds.</a:t>
            </a:r>
            <a:br/>
            <a:br/>
            <a:r>
              <a:t>The Result: Test AUC dropped at every sample size (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:</a:t>
            </a:r>
            <a:br/>
            <a:r>
              <a:t>−</a:t>
            </a:r>
            <a:br/>
            <a:r>
              <a:t>0.013</a:t>
            </a:r>
            <a:br/>
            <a:r>
              <a:t>;</a:t>
            </a:r>
            <a:br/>
            <a:r>
              <a:t>𝑁</a:t>
            </a:r>
            <a:br/>
            <a:r>
              <a:t>=</a:t>
            </a:r>
            <a:br/>
            <a:r>
              <a:t>20</a:t>
            </a:r>
            <a:br/>
            <a:r>
              <a:t>:</a:t>
            </a:r>
            <a:br/>
            <a:r>
              <a:t>−</a:t>
            </a:r>
            <a:br/>
            <a:r>
              <a:t>0.034</a:t>
            </a:r>
            <a:br/>
            <a:r>
              <a:t>;</a:t>
            </a:r>
            <a:br/>
            <a:r>
              <a:t>𝑁</a:t>
            </a:r>
            <a:br/>
            <a:r>
              <a:t>=</a:t>
            </a:r>
            <a:br/>
            <a:r>
              <a:t>50</a:t>
            </a:r>
            <a:br/>
            <a:r>
              <a:t>:</a:t>
            </a:r>
            <a:br/>
            <a:r>
              <a:t>−</a:t>
            </a:r>
            <a:br/>
            <a:r>
              <a:t>0.010</a:t>
            </a:r>
            <a:br/>
            <a:r>
              <a:t>;</a:t>
            </a:r>
            <a:br/>
            <a:r>
              <a:t>𝑁</a:t>
            </a:r>
            <a:br/>
            <a:r>
              <a:t>=</a:t>
            </a:r>
            <a:br/>
            <a:r>
              <a:t>100</a:t>
            </a:r>
            <a:br/>
            <a:r>
              <a:t>:</a:t>
            </a:r>
            <a:br/>
            <a:r>
              <a:t>−</a:t>
            </a:r>
            <a:br/>
            <a:r>
              <a:t>0.014</a:t>
            </a:r>
            <a:br/>
            <a:r>
              <a:t>).</a:t>
            </a:r>
            <a:br/>
            <a:br/>
            <a:r>
              <a:t>Verdict: Discarded two-qubit correlators do not explain the entanglement deficit. The deficit is intrinsic to the entangling geometry.</a:t>
            </a:r>
            <a:br/>
            <a:r>
              <a:t>12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13: Exact Experimental Accounting: 960 Controlled Runs</a:t>
            </a:r>
          </a:p>
          <a:p>
            <a:pPr>
              <a:defRPr i="1" sz="1100"/>
            </a:pPr>
            <a:r>
              <a:t>Presenter / Section: ARYAN GUPTA · EXPERIMENTAL RIGOR</a:t>
            </a:r>
          </a:p>
          <a:p>
            <a:pPr>
              <a:defRPr sz="1000"/>
            </a:pPr>
            <a:r>
              <a:t>Topic: SEED PARITY, TUNING BUDGET ASYMMETRY &amp; REPRODUCIBILITY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Integrity: Zero cherry-picking, zero missing cells, and strictly paired comparisons across all 15 seeds.</a:t>
            </a:r>
            <a:br/>
            <a:br/>
            <a:r>
              <a:t>The Takeaway: Even with a massive search advantage skewed in quantum's favor, M3 still failed to outperform the classical control.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ARYAN GUPTA · EXPERIMENTAL RIGOR</a:t>
            </a:r>
            <a:br/>
            <a:r>
              <a:t>Exact Experimental Accounting: 960 Controlled Runs</a:t>
            </a:r>
            <a:br/>
            <a:r>
              <a:t>SEED PARITY, TUNING BUDGET ASYMMETRY &amp; REPRODUCIBILITY</a:t>
            </a:r>
            <a:br/>
            <a:r>
              <a:t>Row Accounting (15 Seeds, 0 to 14)</a:t>
            </a:r>
            <a:br/>
            <a:r>
              <a:t>PIPELINE MODEL	CONFIGURATIONS	TOTAL RUNS</a:t>
            </a:r>
            <a:br/>
            <a:r>
              <a:t>M1: Scratch CNN	4 N values × 15 seeds	60 runs</a:t>
            </a:r>
            <a:br/>
            <a:r>
              <a:t>M2: Classical RBF	4 N × 3 PCA comps (4,6,8) × 15 seeds	180 runs</a:t>
            </a:r>
            <a:br/>
            <a:r>
              <a:t>M3: Default PQK (s=1)	4 N values × 15 seeds	60 runs</a:t>
            </a:r>
            <a:br/>
            <a:r>
              <a:t>M4: 11 Ablation Cells	4 N × 11 circuit variants × 15 seeds	660 runs</a:t>
            </a:r>
            <a:br/>
            <a:r>
              <a:t>Total Benchmark	100% Seed Parity (df = 14)	960 runs</a:t>
            </a:r>
            <a:br/>
            <a:br/>
            <a:r>
              <a:t>Every single run evaluated on the exact same 624-image test set.</a:t>
            </a:r>
            <a:br/>
            <a:br/>
            <a:r>
              <a:t>Integrity: Zero cherry-picking, zero missing cells, and strictly paired comparisons across all 15 seeds.</a:t>
            </a:r>
            <a:br/>
            <a:r>
              <a:t>Tuning Budget Asymmetry</a:t>
            </a:r>
            <a:br/>
            <a:br/>
            <a:r>
              <a:t>The Hyperparameter Search Grids:</a:t>
            </a:r>
            <a:br/>
            <a:br/>
            <a:r>
              <a:t>M2 Classical: Grid search over </a:t>
            </a:r>
            <a:br/>
            <a:r>
              <a:t>𝐶</a:t>
            </a:r>
            <a:br/>
            <a:r>
              <a:t> (6 values) and </a:t>
            </a:r>
            <a:br/>
            <a:r>
              <a:t>𝛾</a:t>
            </a:r>
            <a:br/>
            <a:r>
              <a:t> (6 to 9 values) = 36 to 54 configurations per fold.</a:t>
            </a:r>
            <a:br/>
            <a:r>
              <a:t>M3 Tuned PQK: Grid search over </a:t>
            </a:r>
            <a:br/>
            <a:r>
              <a:t>𝐶</a:t>
            </a:r>
            <a:br/>
            <a:r>
              <a:t> (6), </a:t>
            </a:r>
            <a:br/>
            <a:r>
              <a:t>𝛾</a:t>
            </a:r>
            <a:br/>
            <a:r>
              <a:t> (9), AND scale </a:t>
            </a:r>
            <a:br/>
            <a:r>
              <a:t>𝑠</a:t>
            </a:r>
            <a:br/>
            <a:r>
              <a:t> (5 values: 0.0625, 0.125, 0.25, 0.5, 1.0) = 270 configurations per fold.</a:t>
            </a:r>
            <a:br/>
            <a:br/>
            <a:r>
              <a:t>The Scientific Significance: M3 was given a </a:t>
            </a:r>
            <a:br/>
            <a:r>
              <a:t>5</a:t>
            </a:r>
            <a:br/>
            <a:r>
              <a:t>×</a:t>
            </a:r>
            <a:br/>
            <a:r>
              <a:t> larger hyperparameter tuning budget than the classical baseline.</a:t>
            </a:r>
            <a:br/>
            <a:br/>
            <a:r>
              <a:t>The Takeaway: Even with a massive search advantage skewed in quantum's favor, M3 still failed to outperform the classical control.</a:t>
            </a:r>
            <a:br/>
            <a:r>
              <a:t>13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14: Empirical Benchmark Ledger &amp; Bonferroni Significance</a:t>
            </a:r>
          </a:p>
          <a:p>
            <a:pPr>
              <a:defRPr i="1" sz="1100"/>
            </a:pPr>
            <a:r>
              <a:t>Presenter / Section: ARYAN GUPTA · BENCHMARK RESULTS</a:t>
            </a:r>
          </a:p>
          <a:p>
            <a:pPr>
              <a:defRPr sz="1000"/>
            </a:pPr>
            <a:r>
              <a:t>Topic: TEST ROC-AUC ACROSS 15 SEEDS (DF = 14)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Decisive Evidence: All four paired deficits survive Bonferroni correction (</a:t>
            </a:r>
            <a:br/>
            <a:r>
              <a:t>𝛼</a:t>
            </a:r>
            <a:br/>
            <a:r>
              <a:t>=</a:t>
            </a:r>
            <a:br/>
            <a:r>
              <a:t>0.00417</a:t>
            </a:r>
            <a:br/>
            <a:r>
              <a:t>). The claim of quantum advantage is rejected.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ARYAN GUPTA · BENCHMARK RESULTS</a:t>
            </a:r>
            <a:br/>
            <a:r>
              <a:t>Empirical Benchmark Ledger &amp; Bonferroni Significance</a:t>
            </a:r>
            <a:br/>
            <a:r>
              <a:t>TEST ROC-AUC ACROSS 15 SEEDS (DF = 14)</a:t>
            </a:r>
            <a:br/>
            <a:r>
              <a:t>The 15-Seed Benchmark Results Ledger</a:t>
            </a:r>
            <a:br/>
            <a:r>
              <a:t>MODEL	N = 10	N = 20	N = 50	N = 100</a:t>
            </a:r>
            <a:br/>
            <a:r>
              <a:t>M1: Scratch CNN	0.8469	0.8653	0.9011	0.9110</a:t>
            </a:r>
            <a:br/>
            <a:r>
              <a:t>M2: Classical RBF	0.8957	0.9098	0.9222	0.9250</a:t>
            </a:r>
            <a:br/>
            <a:r>
              <a:t>M3: Default (s=1)	0.5557	0.5739	0.7479	0.8228</a:t>
            </a:r>
            <a:br/>
            <a:r>
              <a:t>M3: Tuned s	0.7717	0.8252	0.8926	0.8962</a:t>
            </a:r>
            <a:br/>
            <a:r>
              <a:t>Gap (M3 − M2)	−0.1241	−0.0846	−0.0296	−0.0288</a:t>
            </a:r>
            <a:br/>
            <a:r>
              <a:t>p-value (Bonf)	2.4e-4	3.8e-4	7.9e-4	1.5e-4</a:t>
            </a:r>
            <a:br/>
            <a:r>
              <a:t>Decisive Evidence: All four paired deficits survive Bonferroni correction (</a:t>
            </a:r>
            <a:br/>
            <a:r>
              <a:t>𝛼</a:t>
            </a:r>
            <a:br/>
            <a:r>
              <a:t>=</a:t>
            </a:r>
            <a:br/>
            <a:r>
              <a:t>0.00417</a:t>
            </a:r>
            <a:br/>
            <a:r>
              <a:t>). The claim of quantum advantage is rejected.</a:t>
            </a:r>
            <a:br/>
            <a:r>
              <a:t>Figure 1: ROC-AUC vs. N (15 Seeds, 95% Student's t Confidence Intervals)</a:t>
            </a:r>
            <a:br/>
            <a:r>
              <a:t>14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15: Streamlit Research Prototype &amp; Disclaimer</a:t>
            </a:r>
          </a:p>
          <a:p>
            <a:pPr>
              <a:defRPr i="1" sz="1100"/>
            </a:pPr>
            <a:r>
              <a:t>Presenter / Section: ARYAN GUPTA · PROTOTYPE PLATFORM</a:t>
            </a:r>
          </a:p>
          <a:p>
            <a:pPr>
              <a:defRPr sz="1000"/>
            </a:pPr>
            <a:r>
              <a:t>Topic: INTERACTIVE DEMONSTRATION &amp; MODEL INSPECTION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Production VM: Deployed on Oracle Cloud (qkernel-lite.duckdns.org) under Caddy proxy with Let's Encrypt SSL, consuming only 24.5 MB RAM.</a:t>
            </a:r>
            <a:br/>
            <a:br/>
            <a:r>
              <a:t>Platform URL: Live interactive prototype accessible at https://qkernel-lite.duckdns.org/.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ARYAN GUPTA · PROTOTYPE PLATFORM</a:t>
            </a:r>
            <a:br/>
            <a:r>
              <a:t>Streamlit Research Prototype &amp; Disclaimer</a:t>
            </a:r>
            <a:br/>
            <a:r>
              <a:t>INTERACTIVE DEMONSTRATION &amp; MODEL INSPECTION</a:t>
            </a:r>
            <a:br/>
            <a:r>
              <a:t>Internal Database &amp; Instant Inference</a:t>
            </a:r>
            <a:br/>
            <a:br/>
            <a:r>
              <a:t>Lightweight Architecture: Compiled 28.6 MB internal database (prototype_db.npz) pre-storing all 624 patient test scans, PCA angles, 24 Pauli expectations, and dual Gram matrices.</a:t>
            </a:r>
            <a:br/>
            <a:br/>
            <a:r>
              <a:t>Instantaneous Switching: Scans, seeds, and scaling factors update in under 5ms without runtime quantum simulation or PyTorch graphs.</a:t>
            </a:r>
            <a:br/>
            <a:br/>
            <a:r>
              <a:t>Interactive Inspector Features:</a:t>
            </a:r>
            <a:br/>
            <a:br/>
            <a:r>
              <a:t>Simultaneous tri-model decision outputs (M1 prob, M2 &amp; M3 margins).</a:t>
            </a:r>
            <a:br/>
            <a:r>
              <a:t>Dynamic PennyLane circuit visualizer and 24-observable Pauli chart.</a:t>
            </a:r>
            <a:br/>
            <a:r>
              <a:t>Dual Gram matrix heatmap comparison and condition numbers.</a:t>
            </a:r>
            <a:br/>
            <a:r>
              <a:t>Production VM: Deployed on Oracle Cloud (qkernel-lite.duckdns.org) under Caddy proxy with Let's Encrypt SSL, consuming only 24.5 MB RAM.</a:t>
            </a:r>
            <a:br/>
            <a:r>
              <a:t>Mandatory Clinical Research Disclaimer</a:t>
            </a:r>
            <a:br/>
            <a:r>
              <a:t>CLINICAL RESEARCH DISCLAIMER</a:t>
            </a:r>
            <a:br/>
            <a:br/>
            <a:r>
              <a:t>Investigation Only: This prototype platform is designed strictly for evaluating quantum machine learning methodologies under controlled academic benchmarks. It is NOT certified as a medical device and must NEVER be used to guide pediatric clinical diagnosis or patient care.</a:t>
            </a:r>
            <a:br/>
            <a:br/>
            <a:r>
              <a:t>Scientific Transparency: The frontend does not conceal quantum deficits—it highlights the exact phase wrapping failure modes and variance collapse directly to the user.</a:t>
            </a:r>
            <a:br/>
            <a:br/>
            <a:r>
              <a:t>Platform URL: Live interactive prototype accessible at https://qkernel-lite.duckdns.org/.</a:t>
            </a:r>
            <a:br/>
            <a:r>
              <a:t>15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b="1" sz="1300"/>
            </a:pPr>
            <a:r>
              <a:t>SLIDE 16: Bounded Conclusions &amp; Viva Defense Integrity</a:t>
            </a:r>
          </a:p>
          <a:p>
            <a:pPr>
              <a:defRPr i="1" sz="1100"/>
            </a:pPr>
            <a:r>
              <a:t>Presenter / Section: CONCLUSION &amp; VIVA DEFENSE</a:t>
            </a:r>
          </a:p>
          <a:p>
            <a:pPr>
              <a:defRPr sz="1000"/>
            </a:pPr>
            <a:r>
              <a:t>Topic: SCIENTIFIC HONESTY OVER HYPE</a:t>
            </a:r>
          </a:p>
          <a:p>
            <a:br/>
            <a:pPr>
              <a:defRPr sz="1000"/>
            </a:pPr>
            <a:r>
              <a:t>KEY TAKEAWAY:</a:t>
            </a:r>
            <a:br/>
            <a:r>
              <a:t>Empirical Reality: Rigorous science reports the truth of the experiment, even when it overturns the initial hypothesis.</a:t>
            </a:r>
          </a:p>
          <a:p>
            <a:br/>
            <a:pPr>
              <a:defRPr sz="900"/>
            </a:pPr>
            <a:r>
              <a:t>--- SLIDE TRANSCRIPT &amp; NOTES ---</a:t>
            </a:r>
            <a:br/>
            <a:r>
              <a:t>CONCLUSION &amp; VIVA DEFENSE</a:t>
            </a:r>
            <a:br/>
            <a:r>
              <a:t>Bounded Conclusions &amp; Viva Defense Integrity</a:t>
            </a:r>
            <a:br/>
            <a:r>
              <a:t>SCIENTIFIC HONESTY OVER HYPE</a:t>
            </a:r>
            <a:br/>
            <a:r>
              <a:t>What We Stand Behind (Permissible)</a:t>
            </a:r>
            <a:br/>
            <a:r>
              <a:t>Transfer Learning Dominance: Accounts for 100% of diagnostic performance (+0.36 AUC lift over scratch CNN at </a:t>
            </a:r>
            <a:br/>
            <a:r>
              <a:t>𝑁</a:t>
            </a:r>
            <a:br/>
            <a:r>
              <a:t>=</a:t>
            </a:r>
            <a:br/>
            <a:r>
              <a:t>10</a:t>
            </a:r>
            <a:br/>
            <a:r>
              <a:t>).</a:t>
            </a:r>
            <a:br/>
            <a:r>
              <a:t>No Quantum Advantage: M3 is statistically detectably below M2 across all sample sizes (deficits of </a:t>
            </a:r>
            <a:br/>
            <a:r>
              <a:t>−</a:t>
            </a:r>
            <a:br/>
            <a:r>
              <a:t>0.030</a:t>
            </a:r>
            <a:br/>
            <a:r>
              <a:t> to </a:t>
            </a:r>
            <a:br/>
            <a:r>
              <a:t>−</a:t>
            </a:r>
            <a:br/>
            <a:r>
              <a:t>0.124</a:t>
            </a:r>
            <a:br/>
            <a:r>
              <a:t> AUC, </a:t>
            </a:r>
            <a:br/>
            <a:r>
              <a:t>𝑝</a:t>
            </a:r>
            <a:br/>
            <a:r>
              <a:t>&lt;</a:t>
            </a:r>
            <a:br/>
            <a:r>
              <a:t>0.001</a:t>
            </a:r>
            <a:br/>
            <a:r>
              <a:t>).</a:t>
            </a:r>
            <a:br/>
            <a:r>
              <a:t>Product State Equivalence: The only quantum model matching M2 within </a:t>
            </a:r>
            <a:br/>
            <a:r>
              <a:t>±</a:t>
            </a:r>
            <a:br/>
            <a:r>
              <a:t>0.02</a:t>
            </a:r>
            <a:br/>
            <a:r>
              <a:t> AUC is a classically simulable 1-layer product state.</a:t>
            </a:r>
            <a:br/>
            <a:r>
              <a:t>Entanglement Hurts: Circular CNOT entangling gates collapse single-qubit expectation variance by </a:t>
            </a:r>
            <a:br/>
            <a:r>
              <a:t>34</a:t>
            </a:r>
            <a:br/>
            <a:r>
              <a:t>×</a:t>
            </a:r>
            <a:br/>
            <a:r>
              <a:t> (from </a:t>
            </a:r>
            <a:br/>
            <a:r>
              <a:t>0.290</a:t>
            </a:r>
            <a:br/>
            <a:r>
              <a:t> to </a:t>
            </a:r>
            <a:br/>
            <a:r>
              <a:t>0.0085</a:t>
            </a:r>
            <a:br/>
            <a:r>
              <a:t>).</a:t>
            </a:r>
            <a:br/>
            <a:r>
              <a:t>Empirical Reality: Rigorous science reports the truth of the experiment, even when it overturns the initial hypothesis.</a:t>
            </a:r>
            <a:br/>
            <a:r>
              <a:t>What We Explicitly Do Not Claim</a:t>
            </a:r>
            <a:br/>
            <a:r>
              <a:t>We do not claim a universal proof that quantum kernels cannot classify medical images in any setting.</a:t>
            </a:r>
            <a:br/>
            <a:r>
              <a:t>We do not claim entanglement scrambles pathology in all architectures or feature maps.</a:t>
            </a:r>
            <a:br/>
            <a:r>
              <a:t>We do not claim M3 'ties' or 'matches' M2.</a:t>
            </a:r>
            <a:br/>
            <a:r>
              <a:t>We report what we measured with full transparency, 960 controlled runs, 15 seeds, and zero data leakage.</a:t>
            </a:r>
            <a:br/>
            <a:r>
              <a:t>A rigorous, reproducible null result is vastly superior to an unreproducible claim of advantage.</a:t>
            </a:r>
            <a:br/>
            <a:r>
              <a:t>16 /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